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Space Mono"/>
      <p:bold r:id="rId21"/>
      <p:boldItalic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h5buWmcSWLxH/P4LiU3OM5nR0M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SpaceMono-boldItalic.fntdata"/><Relationship Id="rId21" Type="http://schemas.openxmlformats.org/officeDocument/2006/relationships/font" Target="fonts/SpaceMono-bold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20" Type="http://schemas.openxmlformats.org/officeDocument/2006/relationships/image" Target="../media/image24.png"/><Relationship Id="rId11" Type="http://schemas.openxmlformats.org/officeDocument/2006/relationships/image" Target="../media/image21.png"/><Relationship Id="rId22" Type="http://schemas.openxmlformats.org/officeDocument/2006/relationships/image" Target="../media/image27.png"/><Relationship Id="rId10" Type="http://schemas.openxmlformats.org/officeDocument/2006/relationships/image" Target="../media/image20.png"/><Relationship Id="rId21" Type="http://schemas.openxmlformats.org/officeDocument/2006/relationships/hyperlink" Target="https://docs.google.com/spreadsheets/d/1ymLNgYCoKlnxgvwqi2Hh4fT65IMwu0U1/edit?usp=drive_link&amp;ouid=105571740643260815160&amp;rtpof=true&amp;sd=true" TargetMode="External"/><Relationship Id="rId13" Type="http://schemas.openxmlformats.org/officeDocument/2006/relationships/image" Target="../media/image22.png"/><Relationship Id="rId24" Type="http://schemas.openxmlformats.org/officeDocument/2006/relationships/hyperlink" Target="https://docs.google.com/spreadsheets/d/11KIzOHJilYZ-f-Had4i-NfTCdPgRxZTD/edit?usp=drive_link&amp;ouid=105571740643260815160&amp;rtpof=true&amp;sd=true" TargetMode="External"/><Relationship Id="rId12" Type="http://schemas.openxmlformats.org/officeDocument/2006/relationships/hyperlink" Target="https://docs.google.com/document/d/19lRYG9IsR9Eo3f6S9OKPV1fFSdW_OP9T/edit?usp=drive_link&amp;ouid=105571740643260815160&amp;rtpof=true&amp;sd=true" TargetMode="External"/><Relationship Id="rId23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14.png"/><Relationship Id="rId9" Type="http://schemas.openxmlformats.org/officeDocument/2006/relationships/hyperlink" Target="https://docs.google.com/document/d/1HyOVV5fZfgT394ep4eWtOXhlh2N0hdA-/edit?usp=drive_link&amp;ouid=105571740643260815160&amp;rtpof=true&amp;sd=true" TargetMode="External"/><Relationship Id="rId15" Type="http://schemas.openxmlformats.org/officeDocument/2006/relationships/hyperlink" Target="https://docs.google.com/document/d/1Tl_ywnXLXGU9XS1UzHlo5sCkKSHrlflD/edit?usp=drive_link&amp;ouid=105571740643260815160&amp;rtpof=true&amp;sd=true" TargetMode="External"/><Relationship Id="rId14" Type="http://schemas.openxmlformats.org/officeDocument/2006/relationships/image" Target="../media/image28.png"/><Relationship Id="rId17" Type="http://schemas.openxmlformats.org/officeDocument/2006/relationships/image" Target="../media/image25.png"/><Relationship Id="rId16" Type="http://schemas.openxmlformats.org/officeDocument/2006/relationships/image" Target="../media/image31.png"/><Relationship Id="rId5" Type="http://schemas.openxmlformats.org/officeDocument/2006/relationships/image" Target="../media/image16.png"/><Relationship Id="rId19" Type="http://schemas.openxmlformats.org/officeDocument/2006/relationships/image" Target="../media/image29.png"/><Relationship Id="rId6" Type="http://schemas.openxmlformats.org/officeDocument/2006/relationships/image" Target="../media/image15.png"/><Relationship Id="rId18" Type="http://schemas.openxmlformats.org/officeDocument/2006/relationships/hyperlink" Target="https://docs.google.com/spreadsheets/d/1mESwqDZEfc82HHYWRjlo83klk8DOwHam/edit?usp=drive_link&amp;ouid=105571740643260815160&amp;rtpof=true&amp;sd=true" TargetMode="External"/><Relationship Id="rId7" Type="http://schemas.openxmlformats.org/officeDocument/2006/relationships/image" Target="../media/image18.png"/><Relationship Id="rId8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"/>
          <p:cNvCxnSpPr/>
          <p:nvPr/>
        </p:nvCxnSpPr>
        <p:spPr>
          <a:xfrm>
            <a:off x="1081088" y="2109371"/>
            <a:ext cx="0" cy="8398962"/>
          </a:xfrm>
          <a:prstGeom prst="straightConnector1">
            <a:avLst/>
          </a:prstGeom>
          <a:noFill/>
          <a:ln cap="flat" cmpd="sng" w="66675">
            <a:solidFill>
              <a:srgbClr val="2E323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1"/>
          <p:cNvCxnSpPr/>
          <p:nvPr/>
        </p:nvCxnSpPr>
        <p:spPr>
          <a:xfrm>
            <a:off x="1748022" y="5997710"/>
            <a:ext cx="0" cy="10979790"/>
          </a:xfrm>
          <a:prstGeom prst="straightConnector1">
            <a:avLst/>
          </a:prstGeom>
          <a:noFill/>
          <a:ln cap="flat" cmpd="sng" w="66675">
            <a:solidFill>
              <a:srgbClr val="2E323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1"/>
          <p:cNvCxnSpPr/>
          <p:nvPr/>
        </p:nvCxnSpPr>
        <p:spPr>
          <a:xfrm>
            <a:off x="2414957" y="7906693"/>
            <a:ext cx="0" cy="10788507"/>
          </a:xfrm>
          <a:prstGeom prst="straightConnector1">
            <a:avLst/>
          </a:prstGeom>
          <a:noFill/>
          <a:ln cap="flat" cmpd="sng" w="66675">
            <a:solidFill>
              <a:srgbClr val="2E32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1"/>
          <p:cNvSpPr/>
          <p:nvPr/>
        </p:nvSpPr>
        <p:spPr>
          <a:xfrm>
            <a:off x="10265118" y="4819809"/>
            <a:ext cx="7391940" cy="8780922"/>
          </a:xfrm>
          <a:custGeom>
            <a:rect b="b" l="l" r="r" t="t"/>
            <a:pathLst>
              <a:path extrusionOk="0" h="8780922" w="7391940">
                <a:moveTo>
                  <a:pt x="0" y="0"/>
                </a:moveTo>
                <a:lnTo>
                  <a:pt x="7391939" y="0"/>
                </a:lnTo>
                <a:lnTo>
                  <a:pt x="7391939" y="8780922"/>
                </a:lnTo>
                <a:lnTo>
                  <a:pt x="0" y="8780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10265118" y="-3313731"/>
            <a:ext cx="7391940" cy="8780922"/>
          </a:xfrm>
          <a:custGeom>
            <a:rect b="b" l="l" r="r" t="t"/>
            <a:pathLst>
              <a:path extrusionOk="0" h="8780922" w="7391940">
                <a:moveTo>
                  <a:pt x="0" y="0"/>
                </a:moveTo>
                <a:lnTo>
                  <a:pt x="7391939" y="0"/>
                </a:lnTo>
                <a:lnTo>
                  <a:pt x="7391939" y="8780922"/>
                </a:lnTo>
                <a:lnTo>
                  <a:pt x="0" y="8780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722624" y="1073221"/>
            <a:ext cx="581748" cy="581748"/>
          </a:xfrm>
          <a:custGeom>
            <a:rect b="b" l="l" r="r" t="t"/>
            <a:pathLst>
              <a:path extrusionOk="0" h="581748" w="581748">
                <a:moveTo>
                  <a:pt x="0" y="0"/>
                </a:moveTo>
                <a:lnTo>
                  <a:pt x="581749" y="0"/>
                </a:lnTo>
                <a:lnTo>
                  <a:pt x="581749" y="581749"/>
                </a:lnTo>
                <a:lnTo>
                  <a:pt x="0" y="5817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 txBox="1"/>
          <p:nvPr/>
        </p:nvSpPr>
        <p:spPr>
          <a:xfrm>
            <a:off x="1770825" y="2204621"/>
            <a:ext cx="8517095" cy="2526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28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Soluciones</a:t>
            </a:r>
            <a:endParaRPr/>
          </a:p>
          <a:p>
            <a:pPr indent="0" lvl="0" marL="0" marR="0" rtl="0" algn="l">
              <a:lnSpc>
                <a:spcPct val="109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28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INSIDER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2414957" y="6007235"/>
            <a:ext cx="3155049" cy="751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Jorge Garay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Juan Pablo Navarro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Fernando Carreño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2874323" y="7963257"/>
            <a:ext cx="3155049" cy="25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27 Octubre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3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1028700" y="-1524713"/>
            <a:ext cx="6762463" cy="7379672"/>
          </a:xfrm>
          <a:custGeom>
            <a:rect b="b" l="l" r="r" t="t"/>
            <a:pathLst>
              <a:path extrusionOk="0" h="7379672" w="6762463">
                <a:moveTo>
                  <a:pt x="0" y="0"/>
                </a:moveTo>
                <a:lnTo>
                  <a:pt x="6762463" y="0"/>
                </a:lnTo>
                <a:lnTo>
                  <a:pt x="6762463" y="7379672"/>
                </a:lnTo>
                <a:lnTo>
                  <a:pt x="0" y="7379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2"/>
          <p:cNvSpPr/>
          <p:nvPr/>
        </p:nvSpPr>
        <p:spPr>
          <a:xfrm>
            <a:off x="1028700" y="4525091"/>
            <a:ext cx="6762463" cy="7379672"/>
          </a:xfrm>
          <a:custGeom>
            <a:rect b="b" l="l" r="r" t="t"/>
            <a:pathLst>
              <a:path extrusionOk="0" h="7379672" w="6762463">
                <a:moveTo>
                  <a:pt x="0" y="0"/>
                </a:moveTo>
                <a:lnTo>
                  <a:pt x="6762463" y="0"/>
                </a:lnTo>
                <a:lnTo>
                  <a:pt x="6762463" y="7379672"/>
                </a:lnTo>
                <a:lnTo>
                  <a:pt x="0" y="7379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 txBox="1"/>
          <p:nvPr/>
        </p:nvSpPr>
        <p:spPr>
          <a:xfrm>
            <a:off x="8123751" y="454660"/>
            <a:ext cx="6864456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CONTENIDOS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8945929" y="1780938"/>
            <a:ext cx="6943222" cy="6874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Introducción</a:t>
            </a:r>
            <a:endParaRPr/>
          </a:p>
          <a:p>
            <a:pPr indent="0" lvl="0" marL="0" marR="0" rtl="0" algn="l">
              <a:lnSpc>
                <a:spcPct val="1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Stack Tecnológicos</a:t>
            </a:r>
            <a:endParaRPr/>
          </a:p>
          <a:p>
            <a:pPr indent="0" lvl="0" marL="0" marR="0" rtl="0" algn="l">
              <a:lnSpc>
                <a:spcPct val="1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Áreas Generales</a:t>
            </a:r>
            <a:endParaRPr/>
          </a:p>
          <a:p>
            <a:pPr indent="0" lvl="0" marL="0" marR="0" rtl="0" algn="l">
              <a:lnSpc>
                <a:spcPct val="1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Vista 4+1</a:t>
            </a:r>
            <a:endParaRPr/>
          </a:p>
          <a:p>
            <a:pPr indent="0" lvl="0" marL="0" marR="0" rtl="0" algn="l">
              <a:lnSpc>
                <a:spcPct val="1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Diagrama ciclo de vida</a:t>
            </a:r>
            <a:endParaRPr/>
          </a:p>
          <a:p>
            <a:pPr indent="0" lvl="0" marL="0" marR="0" rtl="0" algn="l">
              <a:lnSpc>
                <a:spcPct val="1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Diagrama de clases</a:t>
            </a:r>
            <a:endParaRPr/>
          </a:p>
          <a:p>
            <a:pPr indent="0" lvl="0" marL="0" marR="0" rtl="0" algn="l">
              <a:lnSpc>
                <a:spcPct val="1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Diagrama de Base de Datos</a:t>
            </a:r>
            <a:endParaRPr/>
          </a:p>
          <a:p>
            <a:pPr indent="0" lvl="0" marL="0" marR="0" rtl="0" algn="l">
              <a:lnSpc>
                <a:spcPct val="1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AS-IS Y TO-BE</a:t>
            </a:r>
            <a:endParaRPr/>
          </a:p>
          <a:p>
            <a:pPr indent="0" lvl="0" marL="0" marR="0" rtl="0" algn="l">
              <a:lnSpc>
                <a:spcPct val="1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8123751" y="1780938"/>
            <a:ext cx="822178" cy="6102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01.</a:t>
            </a:r>
            <a:endParaRPr/>
          </a:p>
          <a:p>
            <a:pPr indent="0" lvl="0" marL="0" marR="0" rtl="0" algn="r">
              <a:lnSpc>
                <a:spcPct val="1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02.</a:t>
            </a:r>
            <a:endParaRPr/>
          </a:p>
          <a:p>
            <a:pPr indent="0" lvl="0" marL="0" marR="0" rtl="0" algn="r">
              <a:lnSpc>
                <a:spcPct val="1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03.</a:t>
            </a:r>
            <a:endParaRPr/>
          </a:p>
          <a:p>
            <a:pPr indent="0" lvl="0" marL="0" marR="0" rtl="0" algn="r">
              <a:lnSpc>
                <a:spcPct val="1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04.</a:t>
            </a:r>
            <a:endParaRPr/>
          </a:p>
          <a:p>
            <a:pPr indent="0" lvl="0" marL="0" marR="0" rtl="0" algn="r">
              <a:lnSpc>
                <a:spcPct val="1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06.</a:t>
            </a:r>
            <a:endParaRPr/>
          </a:p>
          <a:p>
            <a:pPr indent="0" lvl="0" marL="0" marR="0" rtl="0" algn="r">
              <a:lnSpc>
                <a:spcPct val="1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07.</a:t>
            </a:r>
            <a:endParaRPr/>
          </a:p>
          <a:p>
            <a:pPr indent="0" lvl="0" marL="0" marR="0" rtl="0" algn="r">
              <a:lnSpc>
                <a:spcPct val="1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08.</a:t>
            </a:r>
            <a:endParaRPr/>
          </a:p>
          <a:p>
            <a:pPr indent="0" lvl="0" marL="0" marR="0" rtl="0" algn="r">
              <a:lnSpc>
                <a:spcPct val="1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10.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3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 flipH="1">
            <a:off x="2130936" y="-280555"/>
            <a:ext cx="5983463" cy="9538855"/>
          </a:xfrm>
          <a:custGeom>
            <a:rect b="b" l="l" r="r" t="t"/>
            <a:pathLst>
              <a:path extrusionOk="0" h="9538855" w="5983463">
                <a:moveTo>
                  <a:pt x="5983463" y="0"/>
                </a:moveTo>
                <a:lnTo>
                  <a:pt x="0" y="0"/>
                </a:lnTo>
                <a:lnTo>
                  <a:pt x="0" y="9538855"/>
                </a:lnTo>
                <a:lnTo>
                  <a:pt x="5983463" y="9538855"/>
                </a:lnTo>
                <a:lnTo>
                  <a:pt x="598346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3"/>
          <p:cNvSpPr txBox="1"/>
          <p:nvPr/>
        </p:nvSpPr>
        <p:spPr>
          <a:xfrm>
            <a:off x="9144000" y="2108375"/>
            <a:ext cx="6864456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INTRODUCCIÓN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9144000" y="3291228"/>
            <a:ext cx="6864456" cy="3723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35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El sistema de Soluciones INSIDER centraliza la gestión de solicitudes, financiamiento, denuncias, reclamos y felicitaciones, reduciendo los tiempos de respuesta y facilitando el trabajo de los coordinadores.</a:t>
            </a:r>
            <a:endParaRPr/>
          </a:p>
          <a:p>
            <a:pPr indent="0" lvl="0" marL="0" marR="0" rtl="0" algn="l">
              <a:lnSpc>
                <a:spcPct val="112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35" u="none" cap="none" strike="noStrike">
              <a:solidFill>
                <a:srgbClr val="FFFFFF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lnSpc>
                <a:spcPct val="112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35" u="none" cap="none" strike="noStrike">
              <a:solidFill>
                <a:srgbClr val="FFFFF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3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8103112" y="1242197"/>
            <a:ext cx="2081776" cy="1457243"/>
          </a:xfrm>
          <a:custGeom>
            <a:rect b="b" l="l" r="r" t="t"/>
            <a:pathLst>
              <a:path extrusionOk="0" h="1457243" w="2081776">
                <a:moveTo>
                  <a:pt x="0" y="0"/>
                </a:moveTo>
                <a:lnTo>
                  <a:pt x="2081776" y="0"/>
                </a:lnTo>
                <a:lnTo>
                  <a:pt x="2081776" y="1457244"/>
                </a:lnTo>
                <a:lnTo>
                  <a:pt x="0" y="1457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4"/>
          <p:cNvGrpSpPr/>
          <p:nvPr/>
        </p:nvGrpSpPr>
        <p:grpSpPr>
          <a:xfrm>
            <a:off x="1028700" y="4021988"/>
            <a:ext cx="3791453" cy="4744959"/>
            <a:chOff x="0" y="0"/>
            <a:chExt cx="998572" cy="1249701"/>
          </a:xfrm>
        </p:grpSpPr>
        <p:sp>
          <p:nvSpPr>
            <p:cNvPr id="115" name="Google Shape;115;p4"/>
            <p:cNvSpPr/>
            <p:nvPr/>
          </p:nvSpPr>
          <p:spPr>
            <a:xfrm>
              <a:off x="0" y="0"/>
              <a:ext cx="998572" cy="1249701"/>
            </a:xfrm>
            <a:custGeom>
              <a:rect b="b" l="l" r="r" t="t"/>
              <a:pathLst>
                <a:path extrusionOk="0" h="1249701" w="998572">
                  <a:moveTo>
                    <a:pt x="55132" y="0"/>
                  </a:moveTo>
                  <a:lnTo>
                    <a:pt x="943440" y="0"/>
                  </a:lnTo>
                  <a:cubicBezTo>
                    <a:pt x="973888" y="0"/>
                    <a:pt x="998572" y="24684"/>
                    <a:pt x="998572" y="55132"/>
                  </a:cubicBezTo>
                  <a:lnTo>
                    <a:pt x="998572" y="1194569"/>
                  </a:lnTo>
                  <a:cubicBezTo>
                    <a:pt x="998572" y="1209191"/>
                    <a:pt x="992763" y="1223214"/>
                    <a:pt x="982424" y="1233553"/>
                  </a:cubicBezTo>
                  <a:cubicBezTo>
                    <a:pt x="972085" y="1243893"/>
                    <a:pt x="958062" y="1249701"/>
                    <a:pt x="943440" y="1249701"/>
                  </a:cubicBezTo>
                  <a:lnTo>
                    <a:pt x="55132" y="1249701"/>
                  </a:lnTo>
                  <a:cubicBezTo>
                    <a:pt x="40510" y="1249701"/>
                    <a:pt x="26487" y="1243893"/>
                    <a:pt x="16148" y="1233553"/>
                  </a:cubicBezTo>
                  <a:cubicBezTo>
                    <a:pt x="5809" y="1223214"/>
                    <a:pt x="0" y="1209191"/>
                    <a:pt x="0" y="1194569"/>
                  </a:cubicBezTo>
                  <a:lnTo>
                    <a:pt x="0" y="55132"/>
                  </a:lnTo>
                  <a:cubicBezTo>
                    <a:pt x="0" y="40510"/>
                    <a:pt x="5809" y="26487"/>
                    <a:pt x="16148" y="16148"/>
                  </a:cubicBezTo>
                  <a:cubicBezTo>
                    <a:pt x="26487" y="5809"/>
                    <a:pt x="40510" y="0"/>
                    <a:pt x="55132" y="0"/>
                  </a:cubicBezTo>
                  <a:close/>
                </a:path>
              </a:pathLst>
            </a:custGeom>
            <a:noFill/>
            <a:ln cap="rnd" cmpd="sng" w="47625">
              <a:solidFill>
                <a:srgbClr val="05F4B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4"/>
            <p:cNvSpPr txBox="1"/>
            <p:nvPr/>
          </p:nvSpPr>
          <p:spPr>
            <a:xfrm>
              <a:off x="0" y="0"/>
              <a:ext cx="998572" cy="1249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4"/>
          <p:cNvGrpSpPr/>
          <p:nvPr/>
        </p:nvGrpSpPr>
        <p:grpSpPr>
          <a:xfrm>
            <a:off x="5175082" y="4021988"/>
            <a:ext cx="3791453" cy="4744959"/>
            <a:chOff x="0" y="0"/>
            <a:chExt cx="998572" cy="1249701"/>
          </a:xfrm>
        </p:grpSpPr>
        <p:sp>
          <p:nvSpPr>
            <p:cNvPr id="118" name="Google Shape;118;p4"/>
            <p:cNvSpPr/>
            <p:nvPr/>
          </p:nvSpPr>
          <p:spPr>
            <a:xfrm>
              <a:off x="0" y="0"/>
              <a:ext cx="998572" cy="1249701"/>
            </a:xfrm>
            <a:custGeom>
              <a:rect b="b" l="l" r="r" t="t"/>
              <a:pathLst>
                <a:path extrusionOk="0" h="1249701" w="998572">
                  <a:moveTo>
                    <a:pt x="55132" y="0"/>
                  </a:moveTo>
                  <a:lnTo>
                    <a:pt x="943440" y="0"/>
                  </a:lnTo>
                  <a:cubicBezTo>
                    <a:pt x="973888" y="0"/>
                    <a:pt x="998572" y="24684"/>
                    <a:pt x="998572" y="55132"/>
                  </a:cubicBezTo>
                  <a:lnTo>
                    <a:pt x="998572" y="1194569"/>
                  </a:lnTo>
                  <a:cubicBezTo>
                    <a:pt x="998572" y="1209191"/>
                    <a:pt x="992763" y="1223214"/>
                    <a:pt x="982424" y="1233553"/>
                  </a:cubicBezTo>
                  <a:cubicBezTo>
                    <a:pt x="972085" y="1243893"/>
                    <a:pt x="958062" y="1249701"/>
                    <a:pt x="943440" y="1249701"/>
                  </a:cubicBezTo>
                  <a:lnTo>
                    <a:pt x="55132" y="1249701"/>
                  </a:lnTo>
                  <a:cubicBezTo>
                    <a:pt x="40510" y="1249701"/>
                    <a:pt x="26487" y="1243893"/>
                    <a:pt x="16148" y="1233553"/>
                  </a:cubicBezTo>
                  <a:cubicBezTo>
                    <a:pt x="5809" y="1223214"/>
                    <a:pt x="0" y="1209191"/>
                    <a:pt x="0" y="1194569"/>
                  </a:cubicBezTo>
                  <a:lnTo>
                    <a:pt x="0" y="55132"/>
                  </a:lnTo>
                  <a:cubicBezTo>
                    <a:pt x="0" y="40510"/>
                    <a:pt x="5809" y="26487"/>
                    <a:pt x="16148" y="16148"/>
                  </a:cubicBezTo>
                  <a:cubicBezTo>
                    <a:pt x="26487" y="5809"/>
                    <a:pt x="40510" y="0"/>
                    <a:pt x="55132" y="0"/>
                  </a:cubicBezTo>
                  <a:close/>
                </a:path>
              </a:pathLst>
            </a:custGeom>
            <a:noFill/>
            <a:ln cap="rnd" cmpd="sng" w="47625">
              <a:solidFill>
                <a:srgbClr val="05F4B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4"/>
            <p:cNvSpPr txBox="1"/>
            <p:nvPr/>
          </p:nvSpPr>
          <p:spPr>
            <a:xfrm>
              <a:off x="0" y="0"/>
              <a:ext cx="998572" cy="1249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4"/>
          <p:cNvGrpSpPr/>
          <p:nvPr/>
        </p:nvGrpSpPr>
        <p:grpSpPr>
          <a:xfrm>
            <a:off x="9321465" y="4021988"/>
            <a:ext cx="3791453" cy="4744959"/>
            <a:chOff x="0" y="0"/>
            <a:chExt cx="998572" cy="1249701"/>
          </a:xfrm>
        </p:grpSpPr>
        <p:sp>
          <p:nvSpPr>
            <p:cNvPr id="121" name="Google Shape;121;p4"/>
            <p:cNvSpPr/>
            <p:nvPr/>
          </p:nvSpPr>
          <p:spPr>
            <a:xfrm>
              <a:off x="0" y="0"/>
              <a:ext cx="998572" cy="1249701"/>
            </a:xfrm>
            <a:custGeom>
              <a:rect b="b" l="l" r="r" t="t"/>
              <a:pathLst>
                <a:path extrusionOk="0" h="1249701" w="998572">
                  <a:moveTo>
                    <a:pt x="55132" y="0"/>
                  </a:moveTo>
                  <a:lnTo>
                    <a:pt x="943440" y="0"/>
                  </a:lnTo>
                  <a:cubicBezTo>
                    <a:pt x="973888" y="0"/>
                    <a:pt x="998572" y="24684"/>
                    <a:pt x="998572" y="55132"/>
                  </a:cubicBezTo>
                  <a:lnTo>
                    <a:pt x="998572" y="1194569"/>
                  </a:lnTo>
                  <a:cubicBezTo>
                    <a:pt x="998572" y="1209191"/>
                    <a:pt x="992763" y="1223214"/>
                    <a:pt x="982424" y="1233553"/>
                  </a:cubicBezTo>
                  <a:cubicBezTo>
                    <a:pt x="972085" y="1243893"/>
                    <a:pt x="958062" y="1249701"/>
                    <a:pt x="943440" y="1249701"/>
                  </a:cubicBezTo>
                  <a:lnTo>
                    <a:pt x="55132" y="1249701"/>
                  </a:lnTo>
                  <a:cubicBezTo>
                    <a:pt x="40510" y="1249701"/>
                    <a:pt x="26487" y="1243893"/>
                    <a:pt x="16148" y="1233553"/>
                  </a:cubicBezTo>
                  <a:cubicBezTo>
                    <a:pt x="5809" y="1223214"/>
                    <a:pt x="0" y="1209191"/>
                    <a:pt x="0" y="1194569"/>
                  </a:cubicBezTo>
                  <a:lnTo>
                    <a:pt x="0" y="55132"/>
                  </a:lnTo>
                  <a:cubicBezTo>
                    <a:pt x="0" y="40510"/>
                    <a:pt x="5809" y="26487"/>
                    <a:pt x="16148" y="16148"/>
                  </a:cubicBezTo>
                  <a:cubicBezTo>
                    <a:pt x="26487" y="5809"/>
                    <a:pt x="40510" y="0"/>
                    <a:pt x="55132" y="0"/>
                  </a:cubicBezTo>
                  <a:close/>
                </a:path>
              </a:pathLst>
            </a:custGeom>
            <a:noFill/>
            <a:ln cap="rnd" cmpd="sng" w="47625">
              <a:solidFill>
                <a:srgbClr val="05F4B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4"/>
            <p:cNvSpPr txBox="1"/>
            <p:nvPr/>
          </p:nvSpPr>
          <p:spPr>
            <a:xfrm>
              <a:off x="0" y="0"/>
              <a:ext cx="998572" cy="1249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4"/>
          <p:cNvGrpSpPr/>
          <p:nvPr/>
        </p:nvGrpSpPr>
        <p:grpSpPr>
          <a:xfrm>
            <a:off x="13467847" y="4021988"/>
            <a:ext cx="3791453" cy="4744959"/>
            <a:chOff x="0" y="0"/>
            <a:chExt cx="998572" cy="1249701"/>
          </a:xfrm>
        </p:grpSpPr>
        <p:sp>
          <p:nvSpPr>
            <p:cNvPr id="124" name="Google Shape;124;p4"/>
            <p:cNvSpPr/>
            <p:nvPr/>
          </p:nvSpPr>
          <p:spPr>
            <a:xfrm>
              <a:off x="0" y="0"/>
              <a:ext cx="998572" cy="1249701"/>
            </a:xfrm>
            <a:custGeom>
              <a:rect b="b" l="l" r="r" t="t"/>
              <a:pathLst>
                <a:path extrusionOk="0" h="1249701" w="998572">
                  <a:moveTo>
                    <a:pt x="55132" y="0"/>
                  </a:moveTo>
                  <a:lnTo>
                    <a:pt x="943440" y="0"/>
                  </a:lnTo>
                  <a:cubicBezTo>
                    <a:pt x="973888" y="0"/>
                    <a:pt x="998572" y="24684"/>
                    <a:pt x="998572" y="55132"/>
                  </a:cubicBezTo>
                  <a:lnTo>
                    <a:pt x="998572" y="1194569"/>
                  </a:lnTo>
                  <a:cubicBezTo>
                    <a:pt x="998572" y="1209191"/>
                    <a:pt x="992763" y="1223214"/>
                    <a:pt x="982424" y="1233553"/>
                  </a:cubicBezTo>
                  <a:cubicBezTo>
                    <a:pt x="972085" y="1243893"/>
                    <a:pt x="958062" y="1249701"/>
                    <a:pt x="943440" y="1249701"/>
                  </a:cubicBezTo>
                  <a:lnTo>
                    <a:pt x="55132" y="1249701"/>
                  </a:lnTo>
                  <a:cubicBezTo>
                    <a:pt x="40510" y="1249701"/>
                    <a:pt x="26487" y="1243893"/>
                    <a:pt x="16148" y="1233553"/>
                  </a:cubicBezTo>
                  <a:cubicBezTo>
                    <a:pt x="5809" y="1223214"/>
                    <a:pt x="0" y="1209191"/>
                    <a:pt x="0" y="1194569"/>
                  </a:cubicBezTo>
                  <a:lnTo>
                    <a:pt x="0" y="55132"/>
                  </a:lnTo>
                  <a:cubicBezTo>
                    <a:pt x="0" y="40510"/>
                    <a:pt x="5809" y="26487"/>
                    <a:pt x="16148" y="16148"/>
                  </a:cubicBezTo>
                  <a:cubicBezTo>
                    <a:pt x="26487" y="5809"/>
                    <a:pt x="40510" y="0"/>
                    <a:pt x="55132" y="0"/>
                  </a:cubicBezTo>
                  <a:close/>
                </a:path>
              </a:pathLst>
            </a:custGeom>
            <a:noFill/>
            <a:ln cap="rnd" cmpd="sng" w="47625">
              <a:solidFill>
                <a:srgbClr val="05F4B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0" y="0"/>
              <a:ext cx="998572" cy="1249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4"/>
          <p:cNvSpPr txBox="1"/>
          <p:nvPr/>
        </p:nvSpPr>
        <p:spPr>
          <a:xfrm>
            <a:off x="1316080" y="4372910"/>
            <a:ext cx="3216693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0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FRONT-END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5462462" y="4372910"/>
            <a:ext cx="2725515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0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BACK-END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9608845" y="4372910"/>
            <a:ext cx="2725515" cy="103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0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BASE DE DATOS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13751093" y="4372910"/>
            <a:ext cx="2725515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05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APPS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1316080" y="5557420"/>
            <a:ext cx="3216693" cy="1471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React 18 (Vite)</a:t>
            </a:r>
            <a:endParaRPr/>
          </a:p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Tailwind CSS</a:t>
            </a:r>
            <a:endParaRPr/>
          </a:p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Lucide Icons</a:t>
            </a:r>
            <a:endParaRPr/>
          </a:p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React Router DOM</a:t>
            </a:r>
            <a:endParaRPr/>
          </a:p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Recharts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5462462" y="5557420"/>
            <a:ext cx="3290278" cy="206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Django 4.2</a:t>
            </a:r>
            <a:endParaRPr/>
          </a:p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Django REST Framework</a:t>
            </a:r>
            <a:endParaRPr/>
          </a:p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SimpleJWT</a:t>
            </a:r>
            <a:endParaRPr/>
          </a:p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Django CORS Headers</a:t>
            </a:r>
            <a:endParaRPr/>
          </a:p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Django Filter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9608845" y="5547895"/>
            <a:ext cx="3216693" cy="1109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5106" lvl="1" marL="41021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PostgreSQL en Supabase</a:t>
            </a:r>
            <a:endParaRPr/>
          </a:p>
          <a:p>
            <a:pPr indent="-205106" lvl="1" marL="41021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Driver: psycopg2-binary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13751093" y="5557420"/>
            <a:ext cx="3216693" cy="1471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Accounts</a:t>
            </a:r>
            <a:endParaRPr/>
          </a:p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Cases</a:t>
            </a:r>
            <a:endParaRPr/>
          </a:p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AI Engine</a:t>
            </a:r>
            <a:endParaRPr/>
          </a:p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Dashboard</a:t>
            </a:r>
            <a:endParaRPr/>
          </a:p>
          <a:p>
            <a:pPr indent="-215900" lvl="1" marL="431801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Audit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4497151" y="3087982"/>
            <a:ext cx="9293698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EL STACK TECNOLÓGICO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3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1418036" y="3203979"/>
            <a:ext cx="1701909" cy="1701909"/>
          </a:xfrm>
          <a:custGeom>
            <a:rect b="b" l="l" r="r" t="t"/>
            <a:pathLst>
              <a:path extrusionOk="0" h="1701909" w="1701909">
                <a:moveTo>
                  <a:pt x="0" y="0"/>
                </a:moveTo>
                <a:lnTo>
                  <a:pt x="1701909" y="0"/>
                </a:lnTo>
                <a:lnTo>
                  <a:pt x="1701909" y="1701909"/>
                </a:lnTo>
                <a:lnTo>
                  <a:pt x="0" y="17019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5"/>
          <p:cNvSpPr/>
          <p:nvPr/>
        </p:nvSpPr>
        <p:spPr>
          <a:xfrm>
            <a:off x="10590495" y="3044878"/>
            <a:ext cx="1372854" cy="1716067"/>
          </a:xfrm>
          <a:custGeom>
            <a:rect b="b" l="l" r="r" t="t"/>
            <a:pathLst>
              <a:path extrusionOk="0" h="1716067" w="1372854">
                <a:moveTo>
                  <a:pt x="0" y="0"/>
                </a:moveTo>
                <a:lnTo>
                  <a:pt x="1372854" y="0"/>
                </a:lnTo>
                <a:lnTo>
                  <a:pt x="1372854" y="1716067"/>
                </a:lnTo>
                <a:lnTo>
                  <a:pt x="0" y="1716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5"/>
          <p:cNvSpPr/>
          <p:nvPr/>
        </p:nvSpPr>
        <p:spPr>
          <a:xfrm>
            <a:off x="5587171" y="5941209"/>
            <a:ext cx="1920654" cy="1344458"/>
          </a:xfrm>
          <a:custGeom>
            <a:rect b="b" l="l" r="r" t="t"/>
            <a:pathLst>
              <a:path extrusionOk="0" h="1344458" w="1920654">
                <a:moveTo>
                  <a:pt x="0" y="0"/>
                </a:moveTo>
                <a:lnTo>
                  <a:pt x="1920655" y="0"/>
                </a:lnTo>
                <a:lnTo>
                  <a:pt x="1920655" y="1344458"/>
                </a:lnTo>
                <a:lnTo>
                  <a:pt x="0" y="1344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2" name="Google Shape;142;p5"/>
          <p:cNvGrpSpPr/>
          <p:nvPr/>
        </p:nvGrpSpPr>
        <p:grpSpPr>
          <a:xfrm>
            <a:off x="3861718" y="2914223"/>
            <a:ext cx="4556067" cy="1991666"/>
            <a:chOff x="0" y="19050"/>
            <a:chExt cx="6074756" cy="2655555"/>
          </a:xfrm>
        </p:grpSpPr>
        <p:sp>
          <p:nvSpPr>
            <p:cNvPr id="143" name="Google Shape;143;p5"/>
            <p:cNvSpPr txBox="1"/>
            <p:nvPr/>
          </p:nvSpPr>
          <p:spPr>
            <a:xfrm>
              <a:off x="0" y="601965"/>
              <a:ext cx="6074756" cy="207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99" u="none" cap="none" strike="noStrike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Hemos creado dashboards para cada usuario viendo campos claves que ayudaría a ver cosas como solicitudes resueltas, pendientes, etc</a:t>
              </a:r>
              <a:endParaRPr/>
            </a:p>
          </p:txBody>
        </p:sp>
        <p:sp>
          <p:nvSpPr>
            <p:cNvPr id="144" name="Google Shape;144;p5"/>
            <p:cNvSpPr txBox="1"/>
            <p:nvPr/>
          </p:nvSpPr>
          <p:spPr>
            <a:xfrm>
              <a:off x="0" y="19050"/>
              <a:ext cx="6074756" cy="438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99" u="none" cap="none" strike="noStrike">
                  <a:solidFill>
                    <a:srgbClr val="05F4B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Análisis de datos</a:t>
              </a:r>
              <a:endParaRPr/>
            </a:p>
          </p:txBody>
        </p:sp>
      </p:grpSp>
      <p:grpSp>
        <p:nvGrpSpPr>
          <p:cNvPr id="145" name="Google Shape;145;p5"/>
          <p:cNvGrpSpPr/>
          <p:nvPr/>
        </p:nvGrpSpPr>
        <p:grpSpPr>
          <a:xfrm>
            <a:off x="12579205" y="2914223"/>
            <a:ext cx="4556067" cy="1677341"/>
            <a:chOff x="0" y="19050"/>
            <a:chExt cx="6074756" cy="2236455"/>
          </a:xfrm>
        </p:grpSpPr>
        <p:sp>
          <p:nvSpPr>
            <p:cNvPr id="146" name="Google Shape;146;p5"/>
            <p:cNvSpPr txBox="1"/>
            <p:nvPr/>
          </p:nvSpPr>
          <p:spPr>
            <a:xfrm>
              <a:off x="0" y="601965"/>
              <a:ext cx="6074756" cy="16535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99" u="none" cap="none" strike="noStrike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Agregamos una inteligencia artificial para mejorar la formulación de solicitudes y de respuestas a las mismas</a:t>
              </a:r>
              <a:endParaRPr/>
            </a:p>
          </p:txBody>
        </p:sp>
        <p:sp>
          <p:nvSpPr>
            <p:cNvPr id="147" name="Google Shape;147;p5"/>
            <p:cNvSpPr txBox="1"/>
            <p:nvPr/>
          </p:nvSpPr>
          <p:spPr>
            <a:xfrm>
              <a:off x="0" y="19050"/>
              <a:ext cx="6074756" cy="438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99" u="none" cap="none" strike="noStrike">
                  <a:solidFill>
                    <a:srgbClr val="05F4B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Nuevas ideas</a:t>
              </a:r>
              <a:endParaRPr/>
            </a:p>
          </p:txBody>
        </p:sp>
      </p:grpSp>
      <p:grpSp>
        <p:nvGrpSpPr>
          <p:cNvPr id="148" name="Google Shape;148;p5"/>
          <p:cNvGrpSpPr/>
          <p:nvPr/>
        </p:nvGrpSpPr>
        <p:grpSpPr>
          <a:xfrm>
            <a:off x="7896964" y="5955497"/>
            <a:ext cx="4556326" cy="1489512"/>
            <a:chOff x="0" y="19050"/>
            <a:chExt cx="6075101" cy="1986015"/>
          </a:xfrm>
        </p:grpSpPr>
        <p:sp>
          <p:nvSpPr>
            <p:cNvPr id="149" name="Google Shape;149;p5"/>
            <p:cNvSpPr txBox="1"/>
            <p:nvPr/>
          </p:nvSpPr>
          <p:spPr>
            <a:xfrm>
              <a:off x="0" y="601965"/>
              <a:ext cx="6075000" cy="14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99" u="none" cap="none" strike="noStrike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Hemos usado una variedad de </a:t>
              </a:r>
              <a:r>
                <a:rPr lang="en-US" sz="1799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tecnologías</a:t>
              </a:r>
              <a:r>
                <a:rPr b="0" i="0" lang="en-US" sz="1799" u="none" cap="none" strike="noStrike">
                  <a:solidFill>
                    <a:srgbClr val="FFFFF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 para poder lograr un resultado agradable </a:t>
              </a:r>
              <a:endParaRPr/>
            </a:p>
          </p:txBody>
        </p:sp>
        <p:sp>
          <p:nvSpPr>
            <p:cNvPr id="150" name="Google Shape;150;p5"/>
            <p:cNvSpPr txBox="1"/>
            <p:nvPr/>
          </p:nvSpPr>
          <p:spPr>
            <a:xfrm>
              <a:off x="0" y="19050"/>
              <a:ext cx="6075101" cy="438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99" u="none" cap="none" strike="noStrike">
                  <a:solidFill>
                    <a:srgbClr val="05F4B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Tecnologías elegidas</a:t>
              </a:r>
              <a:endParaRPr/>
            </a:p>
          </p:txBody>
        </p:sp>
      </p:grpSp>
      <p:sp>
        <p:nvSpPr>
          <p:cNvPr id="151" name="Google Shape;151;p5"/>
          <p:cNvSpPr txBox="1"/>
          <p:nvPr/>
        </p:nvSpPr>
        <p:spPr>
          <a:xfrm>
            <a:off x="1072197" y="1057275"/>
            <a:ext cx="6864456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ÁREAS GENERALES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 rot="5400000">
            <a:off x="10201569" y="7892641"/>
            <a:ext cx="7391940" cy="8780922"/>
          </a:xfrm>
          <a:custGeom>
            <a:rect b="b" l="l" r="r" t="t"/>
            <a:pathLst>
              <a:path extrusionOk="0" h="8780922" w="7391940">
                <a:moveTo>
                  <a:pt x="0" y="0"/>
                </a:moveTo>
                <a:lnTo>
                  <a:pt x="7391940" y="0"/>
                </a:lnTo>
                <a:lnTo>
                  <a:pt x="7391940" y="8780922"/>
                </a:lnTo>
                <a:lnTo>
                  <a:pt x="0" y="8780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5"/>
          <p:cNvSpPr/>
          <p:nvPr/>
        </p:nvSpPr>
        <p:spPr>
          <a:xfrm rot="5400000">
            <a:off x="2112527" y="7892641"/>
            <a:ext cx="7391940" cy="8780922"/>
          </a:xfrm>
          <a:custGeom>
            <a:rect b="b" l="l" r="r" t="t"/>
            <a:pathLst>
              <a:path extrusionOk="0" h="8780922" w="7391940">
                <a:moveTo>
                  <a:pt x="0" y="0"/>
                </a:moveTo>
                <a:lnTo>
                  <a:pt x="7391939" y="0"/>
                </a:lnTo>
                <a:lnTo>
                  <a:pt x="7391939" y="8780922"/>
                </a:lnTo>
                <a:lnTo>
                  <a:pt x="0" y="8780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5"/>
          <p:cNvSpPr/>
          <p:nvPr/>
        </p:nvSpPr>
        <p:spPr>
          <a:xfrm rot="5400000">
            <a:off x="-6005950" y="7892641"/>
            <a:ext cx="7391940" cy="8780922"/>
          </a:xfrm>
          <a:custGeom>
            <a:rect b="b" l="l" r="r" t="t"/>
            <a:pathLst>
              <a:path extrusionOk="0" h="8780922" w="7391940">
                <a:moveTo>
                  <a:pt x="0" y="0"/>
                </a:moveTo>
                <a:lnTo>
                  <a:pt x="7391940" y="0"/>
                </a:lnTo>
                <a:lnTo>
                  <a:pt x="7391940" y="8780922"/>
                </a:lnTo>
                <a:lnTo>
                  <a:pt x="0" y="8780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3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/>
          <p:nvPr/>
        </p:nvSpPr>
        <p:spPr>
          <a:xfrm rot="10800000">
            <a:off x="-5308368" y="6134619"/>
            <a:ext cx="8297434" cy="4767253"/>
          </a:xfrm>
          <a:custGeom>
            <a:rect b="b" l="l" r="r" t="t"/>
            <a:pathLst>
              <a:path extrusionOk="0" h="4767253" w="8297434">
                <a:moveTo>
                  <a:pt x="0" y="0"/>
                </a:moveTo>
                <a:lnTo>
                  <a:pt x="8297434" y="0"/>
                </a:lnTo>
                <a:lnTo>
                  <a:pt x="8297434" y="4767253"/>
                </a:lnTo>
                <a:lnTo>
                  <a:pt x="0" y="4767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6"/>
          <p:cNvSpPr/>
          <p:nvPr/>
        </p:nvSpPr>
        <p:spPr>
          <a:xfrm rot="10800000">
            <a:off x="2989066" y="6604445"/>
            <a:ext cx="8297434" cy="4767253"/>
          </a:xfrm>
          <a:custGeom>
            <a:rect b="b" l="l" r="r" t="t"/>
            <a:pathLst>
              <a:path extrusionOk="0" h="4767253" w="8297434">
                <a:moveTo>
                  <a:pt x="8297435" y="4767253"/>
                </a:moveTo>
                <a:lnTo>
                  <a:pt x="0" y="4767253"/>
                </a:lnTo>
                <a:lnTo>
                  <a:pt x="0" y="0"/>
                </a:lnTo>
                <a:lnTo>
                  <a:pt x="8297435" y="0"/>
                </a:lnTo>
                <a:lnTo>
                  <a:pt x="8297435" y="47672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6"/>
          <p:cNvSpPr/>
          <p:nvPr/>
        </p:nvSpPr>
        <p:spPr>
          <a:xfrm>
            <a:off x="11286501" y="102974"/>
            <a:ext cx="6289780" cy="10081051"/>
          </a:xfrm>
          <a:custGeom>
            <a:rect b="b" l="l" r="r" t="t"/>
            <a:pathLst>
              <a:path extrusionOk="0" h="10081051" w="6289780">
                <a:moveTo>
                  <a:pt x="0" y="0"/>
                </a:moveTo>
                <a:lnTo>
                  <a:pt x="6289780" y="0"/>
                </a:lnTo>
                <a:lnTo>
                  <a:pt x="6289780" y="10081052"/>
                </a:lnTo>
                <a:lnTo>
                  <a:pt x="0" y="100810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6"/>
          <p:cNvSpPr txBox="1"/>
          <p:nvPr/>
        </p:nvSpPr>
        <p:spPr>
          <a:xfrm>
            <a:off x="2146757" y="1928289"/>
            <a:ext cx="2802495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01.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3876798" y="2338985"/>
            <a:ext cx="6753230" cy="657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DIAGRAMA CASO DE USO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4228024" y="755968"/>
            <a:ext cx="5819519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DAS (VISTAS 4+1)</a:t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3876798" y="3404664"/>
            <a:ext cx="4074761" cy="986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Muestra cómo interactúan todos los usuarios del software.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3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0" y="0"/>
            <a:ext cx="7732418" cy="10287000"/>
          </a:xfrm>
          <a:custGeom>
            <a:rect b="b" l="l" r="r" t="t"/>
            <a:pathLst>
              <a:path extrusionOk="0" h="10287000" w="7732418">
                <a:moveTo>
                  <a:pt x="0" y="0"/>
                </a:moveTo>
                <a:lnTo>
                  <a:pt x="7732418" y="0"/>
                </a:lnTo>
                <a:lnTo>
                  <a:pt x="773241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7"/>
          <p:cNvSpPr txBox="1"/>
          <p:nvPr/>
        </p:nvSpPr>
        <p:spPr>
          <a:xfrm>
            <a:off x="10361457" y="2540910"/>
            <a:ext cx="763138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DIAGRAMA CICLO DE VIDA</a:t>
            </a:r>
            <a:endParaRPr/>
          </a:p>
        </p:txBody>
      </p:sp>
      <p:sp>
        <p:nvSpPr>
          <p:cNvPr id="172" name="Google Shape;172;p7"/>
          <p:cNvSpPr txBox="1"/>
          <p:nvPr/>
        </p:nvSpPr>
        <p:spPr>
          <a:xfrm>
            <a:off x="10361457" y="3341458"/>
            <a:ext cx="7631384" cy="31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Ciclo de vida de una solicitud</a:t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 rot="10800000">
            <a:off x="7732418" y="6370089"/>
            <a:ext cx="8297434" cy="4767253"/>
          </a:xfrm>
          <a:custGeom>
            <a:rect b="b" l="l" r="r" t="t"/>
            <a:pathLst>
              <a:path extrusionOk="0" h="4767253" w="8297434">
                <a:moveTo>
                  <a:pt x="0" y="0"/>
                </a:moveTo>
                <a:lnTo>
                  <a:pt x="8297434" y="0"/>
                </a:lnTo>
                <a:lnTo>
                  <a:pt x="8297434" y="4767253"/>
                </a:lnTo>
                <a:lnTo>
                  <a:pt x="0" y="4767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7"/>
          <p:cNvSpPr/>
          <p:nvPr/>
        </p:nvSpPr>
        <p:spPr>
          <a:xfrm rot="10800000">
            <a:off x="16029852" y="6839915"/>
            <a:ext cx="8297434" cy="4767253"/>
          </a:xfrm>
          <a:custGeom>
            <a:rect b="b" l="l" r="r" t="t"/>
            <a:pathLst>
              <a:path extrusionOk="0" h="4767253" w="8297434">
                <a:moveTo>
                  <a:pt x="8297435" y="4767253"/>
                </a:moveTo>
                <a:lnTo>
                  <a:pt x="0" y="4767253"/>
                </a:lnTo>
                <a:lnTo>
                  <a:pt x="0" y="0"/>
                </a:lnTo>
                <a:lnTo>
                  <a:pt x="8297435" y="0"/>
                </a:lnTo>
                <a:lnTo>
                  <a:pt x="8297435" y="4767253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7"/>
          <p:cNvSpPr txBox="1"/>
          <p:nvPr/>
        </p:nvSpPr>
        <p:spPr>
          <a:xfrm>
            <a:off x="8703731" y="1943375"/>
            <a:ext cx="2802495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02.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3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9759841" y="0"/>
            <a:ext cx="8528159" cy="10287000"/>
          </a:xfrm>
          <a:custGeom>
            <a:rect b="b" l="l" r="r" t="t"/>
            <a:pathLst>
              <a:path extrusionOk="0" h="10287000" w="8528159">
                <a:moveTo>
                  <a:pt x="0" y="0"/>
                </a:moveTo>
                <a:lnTo>
                  <a:pt x="8528159" y="0"/>
                </a:lnTo>
                <a:lnTo>
                  <a:pt x="852815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8"/>
          <p:cNvSpPr txBox="1"/>
          <p:nvPr/>
        </p:nvSpPr>
        <p:spPr>
          <a:xfrm>
            <a:off x="3034056" y="2211457"/>
            <a:ext cx="4922475" cy="1136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DIAGRAMA BASE DE DATOS</a:t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1462406" y="6726529"/>
            <a:ext cx="8297434" cy="4767253"/>
          </a:xfrm>
          <a:custGeom>
            <a:rect b="b" l="l" r="r" t="t"/>
            <a:pathLst>
              <a:path extrusionOk="0" h="4767253" w="8297434">
                <a:moveTo>
                  <a:pt x="0" y="0"/>
                </a:moveTo>
                <a:lnTo>
                  <a:pt x="8297435" y="0"/>
                </a:lnTo>
                <a:lnTo>
                  <a:pt x="8297435" y="4767254"/>
                </a:lnTo>
                <a:lnTo>
                  <a:pt x="0" y="4767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8"/>
          <p:cNvSpPr/>
          <p:nvPr/>
        </p:nvSpPr>
        <p:spPr>
          <a:xfrm>
            <a:off x="-6835028" y="6256703"/>
            <a:ext cx="8297434" cy="4767253"/>
          </a:xfrm>
          <a:custGeom>
            <a:rect b="b" l="l" r="r" t="t"/>
            <a:pathLst>
              <a:path extrusionOk="0" h="4767253" w="8297434">
                <a:moveTo>
                  <a:pt x="8297434" y="4767253"/>
                </a:moveTo>
                <a:lnTo>
                  <a:pt x="0" y="4767253"/>
                </a:lnTo>
                <a:lnTo>
                  <a:pt x="0" y="0"/>
                </a:lnTo>
                <a:lnTo>
                  <a:pt x="8297434" y="0"/>
                </a:lnTo>
                <a:lnTo>
                  <a:pt x="8297434" y="4767253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8"/>
          <p:cNvSpPr txBox="1"/>
          <p:nvPr/>
        </p:nvSpPr>
        <p:spPr>
          <a:xfrm>
            <a:off x="3235580" y="3454824"/>
            <a:ext cx="4817715" cy="27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Cómo funciona la base de datos.</a:t>
            </a:r>
            <a:endParaRPr/>
          </a:p>
        </p:txBody>
      </p:sp>
      <p:sp>
        <p:nvSpPr>
          <p:cNvPr id="185" name="Google Shape;185;p8"/>
          <p:cNvSpPr txBox="1"/>
          <p:nvPr/>
        </p:nvSpPr>
        <p:spPr>
          <a:xfrm>
            <a:off x="1322612" y="2175897"/>
            <a:ext cx="2802495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03.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3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0" y="0"/>
            <a:ext cx="7938000" cy="10287000"/>
          </a:xfrm>
          <a:custGeom>
            <a:rect b="b" l="l" r="r" t="t"/>
            <a:pathLst>
              <a:path extrusionOk="0" h="10287000" w="7938000">
                <a:moveTo>
                  <a:pt x="0" y="0"/>
                </a:moveTo>
                <a:lnTo>
                  <a:pt x="7938000" y="0"/>
                </a:lnTo>
                <a:lnTo>
                  <a:pt x="793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9"/>
          <p:cNvSpPr txBox="1"/>
          <p:nvPr/>
        </p:nvSpPr>
        <p:spPr>
          <a:xfrm>
            <a:off x="11812171" y="2551512"/>
            <a:ext cx="5756183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DIAGRAMA DE CLASES</a:t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 rot="10800000">
            <a:off x="7938000" y="6340655"/>
            <a:ext cx="8297434" cy="4767253"/>
          </a:xfrm>
          <a:custGeom>
            <a:rect b="b" l="l" r="r" t="t"/>
            <a:pathLst>
              <a:path extrusionOk="0" h="4767253" w="8297434">
                <a:moveTo>
                  <a:pt x="0" y="0"/>
                </a:moveTo>
                <a:lnTo>
                  <a:pt x="8297434" y="0"/>
                </a:lnTo>
                <a:lnTo>
                  <a:pt x="8297434" y="4767253"/>
                </a:lnTo>
                <a:lnTo>
                  <a:pt x="0" y="4767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9"/>
          <p:cNvSpPr/>
          <p:nvPr/>
        </p:nvSpPr>
        <p:spPr>
          <a:xfrm rot="10800000">
            <a:off x="16235434" y="6810481"/>
            <a:ext cx="8297434" cy="4767253"/>
          </a:xfrm>
          <a:custGeom>
            <a:rect b="b" l="l" r="r" t="t"/>
            <a:pathLst>
              <a:path extrusionOk="0" h="4767253" w="8297434">
                <a:moveTo>
                  <a:pt x="8297435" y="4767253"/>
                </a:moveTo>
                <a:lnTo>
                  <a:pt x="0" y="4767253"/>
                </a:lnTo>
                <a:lnTo>
                  <a:pt x="0" y="0"/>
                </a:lnTo>
                <a:lnTo>
                  <a:pt x="8297435" y="0"/>
                </a:lnTo>
                <a:lnTo>
                  <a:pt x="8297435" y="4767253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9"/>
          <p:cNvSpPr txBox="1"/>
          <p:nvPr/>
        </p:nvSpPr>
        <p:spPr>
          <a:xfrm>
            <a:off x="12212814" y="3198264"/>
            <a:ext cx="5046166" cy="318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3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Todas las clases de la página</a:t>
            </a: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10211597" y="2007639"/>
            <a:ext cx="2802495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04.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3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/>
          <p:nvPr/>
        </p:nvSpPr>
        <p:spPr>
          <a:xfrm rot="-5400000">
            <a:off x="-5339308" y="1124457"/>
            <a:ext cx="10678617" cy="8038086"/>
          </a:xfrm>
          <a:custGeom>
            <a:rect b="b" l="l" r="r" t="t"/>
            <a:pathLst>
              <a:path extrusionOk="0" h="8038086" w="10678617">
                <a:moveTo>
                  <a:pt x="0" y="0"/>
                </a:moveTo>
                <a:lnTo>
                  <a:pt x="10678616" y="0"/>
                </a:lnTo>
                <a:lnTo>
                  <a:pt x="10678616" y="8038086"/>
                </a:lnTo>
                <a:lnTo>
                  <a:pt x="0" y="80380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10"/>
          <p:cNvSpPr/>
          <p:nvPr/>
        </p:nvSpPr>
        <p:spPr>
          <a:xfrm rot="5400000">
            <a:off x="12854157" y="1124457"/>
            <a:ext cx="10678617" cy="8038086"/>
          </a:xfrm>
          <a:custGeom>
            <a:rect b="b" l="l" r="r" t="t"/>
            <a:pathLst>
              <a:path extrusionOk="0" h="8038086" w="10678617">
                <a:moveTo>
                  <a:pt x="0" y="0"/>
                </a:moveTo>
                <a:lnTo>
                  <a:pt x="10678617" y="0"/>
                </a:lnTo>
                <a:lnTo>
                  <a:pt x="10678617" y="8038086"/>
                </a:lnTo>
                <a:lnTo>
                  <a:pt x="0" y="80380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10"/>
          <p:cNvSpPr txBox="1"/>
          <p:nvPr/>
        </p:nvSpPr>
        <p:spPr>
          <a:xfrm>
            <a:off x="5413474" y="4765675"/>
            <a:ext cx="7461052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Presentación de software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3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/>
          <p:nvPr/>
        </p:nvSpPr>
        <p:spPr>
          <a:xfrm flipH="1" rot="-5400000">
            <a:off x="8809394" y="4775810"/>
            <a:ext cx="669212" cy="966053"/>
          </a:xfrm>
          <a:custGeom>
            <a:rect b="b" l="l" r="r" t="t"/>
            <a:pathLst>
              <a:path extrusionOk="0" h="966053" w="669212">
                <a:moveTo>
                  <a:pt x="0" y="966053"/>
                </a:moveTo>
                <a:lnTo>
                  <a:pt x="669212" y="966053"/>
                </a:lnTo>
                <a:lnTo>
                  <a:pt x="669212" y="0"/>
                </a:lnTo>
                <a:lnTo>
                  <a:pt x="0" y="0"/>
                </a:lnTo>
                <a:lnTo>
                  <a:pt x="0" y="96605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1"/>
          <p:cNvSpPr/>
          <p:nvPr/>
        </p:nvSpPr>
        <p:spPr>
          <a:xfrm>
            <a:off x="2934348" y="1089842"/>
            <a:ext cx="12343668" cy="3748664"/>
          </a:xfrm>
          <a:custGeom>
            <a:rect b="b" l="l" r="r" t="t"/>
            <a:pathLst>
              <a:path extrusionOk="0" h="3748664" w="12343668">
                <a:moveTo>
                  <a:pt x="0" y="0"/>
                </a:moveTo>
                <a:lnTo>
                  <a:pt x="12343668" y="0"/>
                </a:lnTo>
                <a:lnTo>
                  <a:pt x="12343668" y="3748664"/>
                </a:lnTo>
                <a:lnTo>
                  <a:pt x="0" y="37486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1"/>
          <p:cNvSpPr/>
          <p:nvPr/>
        </p:nvSpPr>
        <p:spPr>
          <a:xfrm>
            <a:off x="1606344" y="5679167"/>
            <a:ext cx="15075312" cy="4358952"/>
          </a:xfrm>
          <a:custGeom>
            <a:rect b="b" l="l" r="r" t="t"/>
            <a:pathLst>
              <a:path extrusionOk="0" h="4358952" w="15075312">
                <a:moveTo>
                  <a:pt x="0" y="0"/>
                </a:moveTo>
                <a:lnTo>
                  <a:pt x="15075312" y="0"/>
                </a:lnTo>
                <a:lnTo>
                  <a:pt x="15075312" y="4358952"/>
                </a:lnTo>
                <a:lnTo>
                  <a:pt x="0" y="43589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1"/>
          <p:cNvSpPr txBox="1"/>
          <p:nvPr/>
        </p:nvSpPr>
        <p:spPr>
          <a:xfrm>
            <a:off x="1568526" y="421510"/>
            <a:ext cx="380080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AS-IS</a:t>
            </a:r>
            <a:endParaRPr/>
          </a:p>
        </p:txBody>
      </p:sp>
      <p:sp>
        <p:nvSpPr>
          <p:cNvPr id="211" name="Google Shape;211;p11"/>
          <p:cNvSpPr txBox="1"/>
          <p:nvPr/>
        </p:nvSpPr>
        <p:spPr>
          <a:xfrm>
            <a:off x="1568526" y="5011187"/>
            <a:ext cx="380080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TO-BE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3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6" name="Google Shape;216;p12"/>
          <p:cNvCxnSpPr/>
          <p:nvPr/>
        </p:nvCxnSpPr>
        <p:spPr>
          <a:xfrm>
            <a:off x="10100680" y="-887476"/>
            <a:ext cx="0" cy="11397895"/>
          </a:xfrm>
          <a:prstGeom prst="straightConnector1">
            <a:avLst/>
          </a:prstGeom>
          <a:noFill/>
          <a:ln cap="rnd" cmpd="sng" w="209550">
            <a:solidFill>
              <a:srgbClr val="05F4B3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17" name="Google Shape;217;p12"/>
          <p:cNvSpPr/>
          <p:nvPr/>
        </p:nvSpPr>
        <p:spPr>
          <a:xfrm>
            <a:off x="0" y="5519747"/>
            <a:ext cx="8297434" cy="4767253"/>
          </a:xfrm>
          <a:custGeom>
            <a:rect b="b" l="l" r="r" t="t"/>
            <a:pathLst>
              <a:path extrusionOk="0" h="4767253" w="8297434">
                <a:moveTo>
                  <a:pt x="0" y="0"/>
                </a:moveTo>
                <a:lnTo>
                  <a:pt x="8297434" y="0"/>
                </a:lnTo>
                <a:lnTo>
                  <a:pt x="8297434" y="4767253"/>
                </a:lnTo>
                <a:lnTo>
                  <a:pt x="0" y="4767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2"/>
          <p:cNvSpPr txBox="1"/>
          <p:nvPr/>
        </p:nvSpPr>
        <p:spPr>
          <a:xfrm>
            <a:off x="7082938" y="1293444"/>
            <a:ext cx="2501714" cy="77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4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01</a:t>
            </a:r>
            <a:endParaRPr/>
          </a:p>
        </p:txBody>
      </p:sp>
      <p:sp>
        <p:nvSpPr>
          <p:cNvPr id="219" name="Google Shape;219;p12"/>
          <p:cNvSpPr txBox="1"/>
          <p:nvPr/>
        </p:nvSpPr>
        <p:spPr>
          <a:xfrm>
            <a:off x="7082938" y="2394914"/>
            <a:ext cx="2501714" cy="77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4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02</a:t>
            </a:r>
            <a:endParaRPr/>
          </a:p>
        </p:txBody>
      </p:sp>
      <p:sp>
        <p:nvSpPr>
          <p:cNvPr id="220" name="Google Shape;220;p12"/>
          <p:cNvSpPr txBox="1"/>
          <p:nvPr/>
        </p:nvSpPr>
        <p:spPr>
          <a:xfrm>
            <a:off x="7082938" y="3493843"/>
            <a:ext cx="2501714" cy="77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4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03</a:t>
            </a:r>
            <a:endParaRPr/>
          </a:p>
        </p:txBody>
      </p:sp>
      <p:sp>
        <p:nvSpPr>
          <p:cNvPr id="221" name="Google Shape;221;p12"/>
          <p:cNvSpPr txBox="1"/>
          <p:nvPr/>
        </p:nvSpPr>
        <p:spPr>
          <a:xfrm>
            <a:off x="7082938" y="4639556"/>
            <a:ext cx="2501714" cy="77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4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04</a:t>
            </a:r>
            <a:endParaRPr/>
          </a:p>
        </p:txBody>
      </p:sp>
      <p:sp>
        <p:nvSpPr>
          <p:cNvPr id="222" name="Google Shape;222;p12"/>
          <p:cNvSpPr txBox="1"/>
          <p:nvPr/>
        </p:nvSpPr>
        <p:spPr>
          <a:xfrm>
            <a:off x="10578610" y="1491944"/>
            <a:ext cx="6680690" cy="378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Notificaciones con correo</a:t>
            </a:r>
            <a:endParaRPr/>
          </a:p>
        </p:txBody>
      </p:sp>
      <p:sp>
        <p:nvSpPr>
          <p:cNvPr id="223" name="Google Shape;223;p12"/>
          <p:cNvSpPr txBox="1"/>
          <p:nvPr/>
        </p:nvSpPr>
        <p:spPr>
          <a:xfrm>
            <a:off x="10578610" y="2593414"/>
            <a:ext cx="6680690" cy="378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Reimaginación de Financiamiento</a:t>
            </a:r>
            <a:endParaRPr/>
          </a:p>
        </p:txBody>
      </p:sp>
      <p:sp>
        <p:nvSpPr>
          <p:cNvPr id="224" name="Google Shape;224;p12"/>
          <p:cNvSpPr txBox="1"/>
          <p:nvPr/>
        </p:nvSpPr>
        <p:spPr>
          <a:xfrm>
            <a:off x="10578610" y="3692343"/>
            <a:ext cx="6680690" cy="378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Profundización de temas legales</a:t>
            </a:r>
            <a:endParaRPr/>
          </a:p>
        </p:txBody>
      </p:sp>
      <p:sp>
        <p:nvSpPr>
          <p:cNvPr id="225" name="Google Shape;225;p12"/>
          <p:cNvSpPr txBox="1"/>
          <p:nvPr/>
        </p:nvSpPr>
        <p:spPr>
          <a:xfrm>
            <a:off x="10578610" y="4765421"/>
            <a:ext cx="6680690" cy="378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Profundización de reglamento</a:t>
            </a:r>
            <a:endParaRPr/>
          </a:p>
        </p:txBody>
      </p:sp>
      <p:sp>
        <p:nvSpPr>
          <p:cNvPr id="226" name="Google Shape;226;p12"/>
          <p:cNvSpPr txBox="1"/>
          <p:nvPr/>
        </p:nvSpPr>
        <p:spPr>
          <a:xfrm>
            <a:off x="1226877" y="2504959"/>
            <a:ext cx="5484586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MEJORAS A FUTURO</a:t>
            </a:r>
            <a:endParaRPr/>
          </a:p>
        </p:txBody>
      </p:sp>
      <p:sp>
        <p:nvSpPr>
          <p:cNvPr id="227" name="Google Shape;227;p12"/>
          <p:cNvSpPr txBox="1"/>
          <p:nvPr/>
        </p:nvSpPr>
        <p:spPr>
          <a:xfrm>
            <a:off x="7122717" y="5738485"/>
            <a:ext cx="2501714" cy="77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8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4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05</a:t>
            </a:r>
            <a:endParaRPr/>
          </a:p>
        </p:txBody>
      </p:sp>
      <p:sp>
        <p:nvSpPr>
          <p:cNvPr id="228" name="Google Shape;228;p12"/>
          <p:cNvSpPr txBox="1"/>
          <p:nvPr/>
        </p:nvSpPr>
        <p:spPr>
          <a:xfrm>
            <a:off x="10578610" y="5867400"/>
            <a:ext cx="6680690" cy="378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Más funciones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3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"/>
          <p:cNvSpPr/>
          <p:nvPr/>
        </p:nvSpPr>
        <p:spPr>
          <a:xfrm rot="-5400000">
            <a:off x="-1641951" y="928648"/>
            <a:ext cx="10678617" cy="8038086"/>
          </a:xfrm>
          <a:custGeom>
            <a:rect b="b" l="l" r="r" t="t"/>
            <a:pathLst>
              <a:path extrusionOk="0" h="8038086" w="10678617">
                <a:moveTo>
                  <a:pt x="0" y="0"/>
                </a:moveTo>
                <a:lnTo>
                  <a:pt x="10678617" y="0"/>
                </a:lnTo>
                <a:lnTo>
                  <a:pt x="10678617" y="8038087"/>
                </a:lnTo>
                <a:lnTo>
                  <a:pt x="0" y="80380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3"/>
          <p:cNvSpPr txBox="1"/>
          <p:nvPr/>
        </p:nvSpPr>
        <p:spPr>
          <a:xfrm>
            <a:off x="10895217" y="4870768"/>
            <a:ext cx="3818066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CONCLUSIONES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3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"/>
          <p:cNvSpPr/>
          <p:nvPr/>
        </p:nvSpPr>
        <p:spPr>
          <a:xfrm>
            <a:off x="8481415" y="0"/>
            <a:ext cx="9806585" cy="10372350"/>
          </a:xfrm>
          <a:custGeom>
            <a:rect b="b" l="l" r="r" t="t"/>
            <a:pathLst>
              <a:path extrusionOk="0" h="10372350" w="9806585">
                <a:moveTo>
                  <a:pt x="0" y="0"/>
                </a:moveTo>
                <a:lnTo>
                  <a:pt x="9806585" y="0"/>
                </a:lnTo>
                <a:lnTo>
                  <a:pt x="9806585" y="10372350"/>
                </a:lnTo>
                <a:lnTo>
                  <a:pt x="0" y="10372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14"/>
          <p:cNvSpPr txBox="1"/>
          <p:nvPr/>
        </p:nvSpPr>
        <p:spPr>
          <a:xfrm>
            <a:off x="1326743" y="4638675"/>
            <a:ext cx="5715422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5F4B3"/>
                </a:solidFill>
                <a:latin typeface="Space Mono"/>
                <a:ea typeface="Space Mono"/>
                <a:cs typeface="Space Mono"/>
                <a:sym typeface="Space Mono"/>
              </a:rPr>
              <a:t>¡Gracias!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15"/>
          <p:cNvSpPr/>
          <p:nvPr/>
        </p:nvSpPr>
        <p:spPr>
          <a:xfrm>
            <a:off x="0" y="0"/>
            <a:ext cx="3486150" cy="4286250"/>
          </a:xfrm>
          <a:custGeom>
            <a:rect b="b" l="l" r="r" t="t"/>
            <a:pathLst>
              <a:path extrusionOk="0" h="4286250" w="3486150">
                <a:moveTo>
                  <a:pt x="0" y="0"/>
                </a:moveTo>
                <a:lnTo>
                  <a:pt x="3486150" y="0"/>
                </a:lnTo>
                <a:lnTo>
                  <a:pt x="3486150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5"/>
          <p:cNvSpPr/>
          <p:nvPr/>
        </p:nvSpPr>
        <p:spPr>
          <a:xfrm>
            <a:off x="13716000" y="4286250"/>
            <a:ext cx="4572000" cy="6000750"/>
          </a:xfrm>
          <a:custGeom>
            <a:rect b="b" l="l" r="r" t="t"/>
            <a:pathLst>
              <a:path extrusionOk="0" h="6000750" w="4572000">
                <a:moveTo>
                  <a:pt x="0" y="0"/>
                </a:moveTo>
                <a:lnTo>
                  <a:pt x="4572000" y="0"/>
                </a:lnTo>
                <a:lnTo>
                  <a:pt x="4572000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15"/>
          <p:cNvSpPr/>
          <p:nvPr/>
        </p:nvSpPr>
        <p:spPr>
          <a:xfrm>
            <a:off x="2390775" y="1924050"/>
            <a:ext cx="13068300" cy="219075"/>
          </a:xfrm>
          <a:custGeom>
            <a:rect b="b" l="l" r="r" t="t"/>
            <a:pathLst>
              <a:path extrusionOk="0" h="219075" w="13068300">
                <a:moveTo>
                  <a:pt x="0" y="0"/>
                </a:moveTo>
                <a:lnTo>
                  <a:pt x="13068300" y="0"/>
                </a:lnTo>
                <a:lnTo>
                  <a:pt x="13068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15"/>
          <p:cNvSpPr txBox="1"/>
          <p:nvPr/>
        </p:nvSpPr>
        <p:spPr>
          <a:xfrm>
            <a:off x="4717496" y="92100"/>
            <a:ext cx="8853000" cy="18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10" u="none" cap="none" strike="noStrike">
                <a:solidFill>
                  <a:srgbClr val="15EFB8"/>
                </a:solidFill>
                <a:latin typeface="Arial"/>
                <a:ea typeface="Arial"/>
                <a:cs typeface="Arial"/>
                <a:sym typeface="Arial"/>
              </a:rPr>
              <a:t>ANEXOS</a:t>
            </a:r>
            <a:endParaRPr/>
          </a:p>
        </p:txBody>
      </p:sp>
      <p:sp>
        <p:nvSpPr>
          <p:cNvPr id="250" name="Google Shape;250;p15"/>
          <p:cNvSpPr/>
          <p:nvPr/>
        </p:nvSpPr>
        <p:spPr>
          <a:xfrm>
            <a:off x="2609850" y="2352675"/>
            <a:ext cx="1962150" cy="1295400"/>
          </a:xfrm>
          <a:custGeom>
            <a:rect b="b" l="l" r="r" t="t"/>
            <a:pathLst>
              <a:path extrusionOk="0" h="1295400" w="1962150">
                <a:moveTo>
                  <a:pt x="0" y="0"/>
                </a:moveTo>
                <a:lnTo>
                  <a:pt x="1962150" y="0"/>
                </a:lnTo>
                <a:lnTo>
                  <a:pt x="1962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5"/>
          <p:cNvSpPr txBox="1"/>
          <p:nvPr/>
        </p:nvSpPr>
        <p:spPr>
          <a:xfrm>
            <a:off x="3116158" y="2437646"/>
            <a:ext cx="840532" cy="1024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8" u="none" cap="none" strike="noStrike">
                <a:solidFill>
                  <a:srgbClr val="15EFB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52" name="Google Shape;252;p15"/>
          <p:cNvSpPr/>
          <p:nvPr/>
        </p:nvSpPr>
        <p:spPr>
          <a:xfrm>
            <a:off x="4133850" y="2352675"/>
            <a:ext cx="11106150" cy="1295400"/>
          </a:xfrm>
          <a:custGeom>
            <a:rect b="b" l="l" r="r" t="t"/>
            <a:pathLst>
              <a:path extrusionOk="0" h="1295400" w="11106150">
                <a:moveTo>
                  <a:pt x="0" y="0"/>
                </a:moveTo>
                <a:lnTo>
                  <a:pt x="11106150" y="0"/>
                </a:lnTo>
                <a:lnTo>
                  <a:pt x="11106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15"/>
          <p:cNvSpPr txBox="1"/>
          <p:nvPr/>
        </p:nvSpPr>
        <p:spPr>
          <a:xfrm>
            <a:off x="4973708" y="2670168"/>
            <a:ext cx="6263533" cy="521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2" u="sng" cap="none" strike="noStrike">
                <a:solidFill>
                  <a:srgbClr val="15EFB8"/>
                </a:solidFill>
                <a:latin typeface="Open Sans"/>
                <a:ea typeface="Open Sans"/>
                <a:cs typeface="Open Sans"/>
                <a:sym typeface="Open Sa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Documento Arquitectura Sistema</a:t>
            </a:r>
            <a:endParaRPr/>
          </a:p>
        </p:txBody>
      </p:sp>
      <p:sp>
        <p:nvSpPr>
          <p:cNvPr id="254" name="Google Shape;254;p15"/>
          <p:cNvSpPr/>
          <p:nvPr/>
        </p:nvSpPr>
        <p:spPr>
          <a:xfrm>
            <a:off x="2609850" y="3638550"/>
            <a:ext cx="1962150" cy="1295400"/>
          </a:xfrm>
          <a:custGeom>
            <a:rect b="b" l="l" r="r" t="t"/>
            <a:pathLst>
              <a:path extrusionOk="0" h="1295400" w="1962150">
                <a:moveTo>
                  <a:pt x="0" y="0"/>
                </a:moveTo>
                <a:lnTo>
                  <a:pt x="1962150" y="0"/>
                </a:lnTo>
                <a:lnTo>
                  <a:pt x="1962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15"/>
          <p:cNvSpPr txBox="1"/>
          <p:nvPr/>
        </p:nvSpPr>
        <p:spPr>
          <a:xfrm>
            <a:off x="3116158" y="3658223"/>
            <a:ext cx="840532" cy="1024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8" u="none" cap="none" strike="noStrike">
                <a:solidFill>
                  <a:srgbClr val="15EFB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56" name="Google Shape;256;p15"/>
          <p:cNvSpPr/>
          <p:nvPr/>
        </p:nvSpPr>
        <p:spPr>
          <a:xfrm>
            <a:off x="4133850" y="3638550"/>
            <a:ext cx="11106150" cy="1295400"/>
          </a:xfrm>
          <a:custGeom>
            <a:rect b="b" l="l" r="r" t="t"/>
            <a:pathLst>
              <a:path extrusionOk="0" h="1295400" w="11106150">
                <a:moveTo>
                  <a:pt x="0" y="0"/>
                </a:moveTo>
                <a:lnTo>
                  <a:pt x="11106150" y="0"/>
                </a:lnTo>
                <a:lnTo>
                  <a:pt x="11106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5"/>
          <p:cNvSpPr txBox="1"/>
          <p:nvPr/>
        </p:nvSpPr>
        <p:spPr>
          <a:xfrm>
            <a:off x="4997947" y="3875676"/>
            <a:ext cx="3839720" cy="521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2" u="sng" cap="none" strike="noStrike">
                <a:solidFill>
                  <a:srgbClr val="15EFB8"/>
                </a:solidFill>
                <a:latin typeface="Open Sans"/>
                <a:ea typeface="Open Sans"/>
                <a:cs typeface="Open Sans"/>
                <a:sym typeface="Open Sans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Diccionario de datos</a:t>
            </a: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2609850" y="4714875"/>
            <a:ext cx="1962150" cy="1285875"/>
          </a:xfrm>
          <a:custGeom>
            <a:rect b="b" l="l" r="r" t="t"/>
            <a:pathLst>
              <a:path extrusionOk="0" h="1285875" w="1962150">
                <a:moveTo>
                  <a:pt x="0" y="0"/>
                </a:moveTo>
                <a:lnTo>
                  <a:pt x="1962150" y="0"/>
                </a:lnTo>
                <a:lnTo>
                  <a:pt x="19621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15"/>
          <p:cNvSpPr txBox="1"/>
          <p:nvPr/>
        </p:nvSpPr>
        <p:spPr>
          <a:xfrm>
            <a:off x="3116158" y="4863730"/>
            <a:ext cx="840532" cy="1024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8" u="none" cap="none" strike="noStrike">
                <a:solidFill>
                  <a:srgbClr val="15EFB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60" name="Google Shape;260;p15"/>
          <p:cNvSpPr/>
          <p:nvPr/>
        </p:nvSpPr>
        <p:spPr>
          <a:xfrm>
            <a:off x="4133850" y="4714875"/>
            <a:ext cx="11106150" cy="1285875"/>
          </a:xfrm>
          <a:custGeom>
            <a:rect b="b" l="l" r="r" t="t"/>
            <a:pathLst>
              <a:path extrusionOk="0" h="1285875" w="11106150">
                <a:moveTo>
                  <a:pt x="0" y="0"/>
                </a:moveTo>
                <a:lnTo>
                  <a:pt x="11106150" y="0"/>
                </a:lnTo>
                <a:lnTo>
                  <a:pt x="111061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15"/>
          <p:cNvSpPr txBox="1"/>
          <p:nvPr/>
        </p:nvSpPr>
        <p:spPr>
          <a:xfrm>
            <a:off x="4976534" y="5081184"/>
            <a:ext cx="5981020" cy="521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2" u="sng" cap="none" strike="noStrike">
                <a:solidFill>
                  <a:srgbClr val="15EFB8"/>
                </a:solidFill>
                <a:latin typeface="Open Sans"/>
                <a:ea typeface="Open Sans"/>
                <a:cs typeface="Open Sans"/>
                <a:sym typeface="Open Sans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Documento proceso de negocio</a:t>
            </a:r>
            <a:endParaRPr/>
          </a:p>
        </p:txBody>
      </p:sp>
      <p:sp>
        <p:nvSpPr>
          <p:cNvPr id="262" name="Google Shape;262;p15"/>
          <p:cNvSpPr/>
          <p:nvPr/>
        </p:nvSpPr>
        <p:spPr>
          <a:xfrm>
            <a:off x="2609850" y="6000750"/>
            <a:ext cx="1962150" cy="1285875"/>
          </a:xfrm>
          <a:custGeom>
            <a:rect b="b" l="l" r="r" t="t"/>
            <a:pathLst>
              <a:path extrusionOk="0" h="1285875" w="1962150">
                <a:moveTo>
                  <a:pt x="0" y="0"/>
                </a:moveTo>
                <a:lnTo>
                  <a:pt x="1962150" y="0"/>
                </a:lnTo>
                <a:lnTo>
                  <a:pt x="19621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15"/>
          <p:cNvSpPr txBox="1"/>
          <p:nvPr/>
        </p:nvSpPr>
        <p:spPr>
          <a:xfrm>
            <a:off x="3116158" y="6099376"/>
            <a:ext cx="840532" cy="1024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8" u="none" cap="none" strike="noStrike">
                <a:solidFill>
                  <a:srgbClr val="15EFB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64" name="Google Shape;264;p15"/>
          <p:cNvSpPr/>
          <p:nvPr/>
        </p:nvSpPr>
        <p:spPr>
          <a:xfrm>
            <a:off x="4133850" y="6000750"/>
            <a:ext cx="11106150" cy="1285875"/>
          </a:xfrm>
          <a:custGeom>
            <a:rect b="b" l="l" r="r" t="t"/>
            <a:pathLst>
              <a:path extrusionOk="0" h="1285875" w="11106150">
                <a:moveTo>
                  <a:pt x="0" y="0"/>
                </a:moveTo>
                <a:lnTo>
                  <a:pt x="11106150" y="0"/>
                </a:lnTo>
                <a:lnTo>
                  <a:pt x="111061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15"/>
          <p:cNvSpPr txBox="1"/>
          <p:nvPr/>
        </p:nvSpPr>
        <p:spPr>
          <a:xfrm>
            <a:off x="4989406" y="6301760"/>
            <a:ext cx="4693758" cy="521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2" u="sng" cap="none" strike="noStrike">
                <a:solidFill>
                  <a:srgbClr val="15EFB8"/>
                </a:solidFill>
                <a:latin typeface="Open Sans"/>
                <a:ea typeface="Open Sans"/>
                <a:cs typeface="Open Sans"/>
                <a:sym typeface="Open Sans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Matriz control de cambio</a:t>
            </a:r>
            <a:endParaRPr/>
          </a:p>
        </p:txBody>
      </p:sp>
      <p:sp>
        <p:nvSpPr>
          <p:cNvPr id="266" name="Google Shape;266;p15"/>
          <p:cNvSpPr/>
          <p:nvPr/>
        </p:nvSpPr>
        <p:spPr>
          <a:xfrm>
            <a:off x="2609850" y="7286625"/>
            <a:ext cx="1962150" cy="1285875"/>
          </a:xfrm>
          <a:custGeom>
            <a:rect b="b" l="l" r="r" t="t"/>
            <a:pathLst>
              <a:path extrusionOk="0" h="1285875" w="1962150">
                <a:moveTo>
                  <a:pt x="0" y="0"/>
                </a:moveTo>
                <a:lnTo>
                  <a:pt x="1962150" y="0"/>
                </a:lnTo>
                <a:lnTo>
                  <a:pt x="19621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5"/>
          <p:cNvSpPr txBox="1"/>
          <p:nvPr/>
        </p:nvSpPr>
        <p:spPr>
          <a:xfrm>
            <a:off x="3116158" y="7335021"/>
            <a:ext cx="840532" cy="1024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8" u="none" cap="none" strike="noStrike">
                <a:solidFill>
                  <a:srgbClr val="15EFB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68" name="Google Shape;268;p15"/>
          <p:cNvSpPr/>
          <p:nvPr/>
        </p:nvSpPr>
        <p:spPr>
          <a:xfrm>
            <a:off x="4133850" y="7286625"/>
            <a:ext cx="11106150" cy="1285875"/>
          </a:xfrm>
          <a:custGeom>
            <a:rect b="b" l="l" r="r" t="t"/>
            <a:pathLst>
              <a:path extrusionOk="0" h="1285875" w="11106150">
                <a:moveTo>
                  <a:pt x="0" y="0"/>
                </a:moveTo>
                <a:lnTo>
                  <a:pt x="11106150" y="0"/>
                </a:lnTo>
                <a:lnTo>
                  <a:pt x="111061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15"/>
          <p:cNvSpPr txBox="1"/>
          <p:nvPr/>
        </p:nvSpPr>
        <p:spPr>
          <a:xfrm>
            <a:off x="5006172" y="7537406"/>
            <a:ext cx="3017205" cy="521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2" u="sng" cap="none" strike="noStrike">
                <a:solidFill>
                  <a:srgbClr val="15EFB8"/>
                </a:solidFill>
                <a:latin typeface="Open Sans"/>
                <a:ea typeface="Open Sans"/>
                <a:cs typeface="Open Sans"/>
                <a:sym typeface="Open Sans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Matriz de riesgo</a:t>
            </a:r>
            <a:endParaRPr/>
          </a:p>
        </p:txBody>
      </p:sp>
      <p:sp>
        <p:nvSpPr>
          <p:cNvPr id="270" name="Google Shape;270;p15"/>
          <p:cNvSpPr/>
          <p:nvPr/>
        </p:nvSpPr>
        <p:spPr>
          <a:xfrm>
            <a:off x="2609850" y="8353425"/>
            <a:ext cx="1962150" cy="1295400"/>
          </a:xfrm>
          <a:custGeom>
            <a:rect b="b" l="l" r="r" t="t"/>
            <a:pathLst>
              <a:path extrusionOk="0" h="1295400" w="1962150">
                <a:moveTo>
                  <a:pt x="0" y="0"/>
                </a:moveTo>
                <a:lnTo>
                  <a:pt x="1962150" y="0"/>
                </a:lnTo>
                <a:lnTo>
                  <a:pt x="1962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15"/>
          <p:cNvSpPr txBox="1"/>
          <p:nvPr/>
        </p:nvSpPr>
        <p:spPr>
          <a:xfrm>
            <a:off x="3116158" y="8540529"/>
            <a:ext cx="840532" cy="1024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8" u="none" cap="none" strike="noStrike">
                <a:solidFill>
                  <a:srgbClr val="15EFB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4133850" y="8353425"/>
            <a:ext cx="11106150" cy="1295400"/>
          </a:xfrm>
          <a:custGeom>
            <a:rect b="b" l="l" r="r" t="t"/>
            <a:pathLst>
              <a:path extrusionOk="0" h="1295400" w="11106150">
                <a:moveTo>
                  <a:pt x="0" y="0"/>
                </a:moveTo>
                <a:lnTo>
                  <a:pt x="11106150" y="0"/>
                </a:lnTo>
                <a:lnTo>
                  <a:pt x="11106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5"/>
          <p:cNvSpPr txBox="1"/>
          <p:nvPr/>
        </p:nvSpPr>
        <p:spPr>
          <a:xfrm>
            <a:off x="5014718" y="8742914"/>
            <a:ext cx="2162576" cy="521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02" u="sng" cap="none" strike="noStrike">
                <a:solidFill>
                  <a:srgbClr val="15EFB8"/>
                </a:solidFill>
                <a:latin typeface="Open Sans"/>
                <a:ea typeface="Open Sans"/>
                <a:cs typeface="Open Sans"/>
                <a:sym typeface="Open Sans"/>
                <a:hlinkClick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Matriz RACI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