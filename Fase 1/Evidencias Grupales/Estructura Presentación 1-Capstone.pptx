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WzJvwUqfgw4eQTZWg00L6uzV6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624973d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624973d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61876f1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a61876f1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61876f1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a61876f11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a61876f1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a61876f11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61876f1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a61876f1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“Soluciones INSIDER”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[Puente Alto]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52" cy="3415887"/>
            <a:chOff x="0" y="0"/>
            <a:chExt cx="6781052" cy="3415887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Fernando Carreño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Jorge Garay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Gerente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Juan Pablo Navarro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Dispersión de canales:</a:t>
            </a:r>
            <a:r>
              <a:rPr lang="es-CL" sz="1100">
                <a:solidFill>
                  <a:schemeClr val="dk1"/>
                </a:solidFill>
              </a:rPr>
              <a:t> Fragmentación en la atención de estudiantes (solicitudes, denuncias y financiamiento se gestionan en plataformas aisladas).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Sobrecarga administrativa:</a:t>
            </a:r>
            <a:r>
              <a:rPr lang="es-CL" sz="1100">
                <a:solidFill>
                  <a:schemeClr val="dk1"/>
                </a:solidFill>
              </a:rPr>
              <a:t> Los coordinadores reciben entre 20 y 60 solicitudes diarias en periodos críticos, generando cuellos de botella en los tiempos de respuesta (hasta 1 semana).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Procesos manuales y repetitivos:</a:t>
            </a:r>
            <a:r>
              <a:rPr lang="es-CL" sz="1100">
                <a:solidFill>
                  <a:schemeClr val="dk1"/>
                </a:solidFill>
              </a:rPr>
              <a:t> Gran parte de los requerimientos entrantes son estandarizados y podrían resolverse de forma automatizada.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Riesgo de deserción:</a:t>
            </a:r>
            <a:r>
              <a:rPr lang="es-CL" sz="1100">
                <a:solidFill>
                  <a:schemeClr val="dk1"/>
                </a:solidFill>
              </a:rPr>
              <a:t> La lentitud en las respuestas académicas y financieras afecta la experiencia del estudiante y la retención institucional.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Sistema Unificado (INSIDER):</a:t>
            </a:r>
            <a:r>
              <a:rPr lang="es-CL" sz="1100">
                <a:solidFill>
                  <a:schemeClr val="dk1"/>
                </a:solidFill>
              </a:rPr>
              <a:t> Plataforma web centralizada que integra Solicitudes Académicas, Financiamiento, Denuncias y nuevos módulos de Reclamos y Felicitaciones.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Automatización Asistida por IA:</a:t>
            </a:r>
            <a:r>
              <a:rPr lang="es-CL" sz="1100">
                <a:solidFill>
                  <a:schemeClr val="dk1"/>
                </a:solidFill>
              </a:rPr>
              <a:t> Motor de Inteligencia Artificial que categoriza requerimientos, sugiere resoluciones según reglamento y automatiza respuestas de alta frecuencia.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Optimización de Tiempos:</a:t>
            </a:r>
            <a:r>
              <a:rPr lang="es-CL" sz="1100">
                <a:solidFill>
                  <a:schemeClr val="dk1"/>
                </a:solidFill>
              </a:rPr>
              <a:t> Reducción drástica en la carga de trabajo de los coordinadores y disminución en los tiempos de espera para el estudiante.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Aporte a la Retención Estudiantil:</a:t>
            </a:r>
            <a:r>
              <a:rPr lang="es-CL" sz="1100">
                <a:solidFill>
                  <a:schemeClr val="dk1"/>
                </a:solidFill>
              </a:rPr>
              <a:t> Transparencia y trazabilidad en tiempo real de cada trámite para mejorar la satisfacción y fidelización académica.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624973de_1_0"/>
          <p:cNvSpPr txBox="1"/>
          <p:nvPr>
            <p:ph type="title"/>
          </p:nvPr>
        </p:nvSpPr>
        <p:spPr>
          <a:xfrm>
            <a:off x="769025" y="10137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Viabilidad del proyecto</a:t>
            </a:r>
            <a:endParaRPr/>
          </a:p>
        </p:txBody>
      </p:sp>
      <p:sp>
        <p:nvSpPr>
          <p:cNvPr id="114" name="Google Shape;114;g3fa624973de_1_0"/>
          <p:cNvSpPr txBox="1"/>
          <p:nvPr/>
        </p:nvSpPr>
        <p:spPr>
          <a:xfrm>
            <a:off x="760150" y="2271025"/>
            <a:ext cx="10239300" cy="3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proyecto es considerado viable tanto en el aspecto de costos como de tiempo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Gracias a la reducción de carga de trabajo, los coordinadores pueden derivar su tiempo a consultas de mayor importancia, con esto: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busca retener a un 2% de los estudiantes que desertan por un mal servicio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 UC es uno de los centros educativos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grandes del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país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retener un 2% de ellos constituye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alrededor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2000 estudiantes y eso equivale a $600.000.000 mil pesos mensuales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 alumno = $300.000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un sistema web unificado de gestión de solicitudes, denuncias, reclamos y financiamiento ("Soluciones INSIDER") e integrar un motor de Inteligencia Artificial para la automatización y asistencia en la resolución de requerimientos estudiantiles en Duoc UC, optimizando los tiempos de respuesta y reduciendo la carga administrativa en un plazo de 18 semanas y bajo un presupuesto fijado en $50.000.000 CLP.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arenR"/>
            </a:pPr>
            <a:r>
              <a:rPr b="1" lang="es-CL" sz="1100">
                <a:solidFill>
                  <a:schemeClr val="dk1"/>
                </a:solidFill>
              </a:rPr>
              <a:t>Relevar y especificar los requerimientos funcionales y no funcionales</a:t>
            </a:r>
            <a:r>
              <a:rPr lang="es-CL" sz="1100">
                <a:solidFill>
                  <a:schemeClr val="dk1"/>
                </a:solidFill>
              </a:rPr>
              <a:t> del sistema bajo el estándar </a:t>
            </a:r>
            <a:r>
              <a:rPr b="1" lang="es-CL" sz="1100">
                <a:solidFill>
                  <a:schemeClr val="dk1"/>
                </a:solidFill>
              </a:rPr>
              <a:t>IEEE 830-1998</a:t>
            </a:r>
            <a:r>
              <a:rPr lang="es-CL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arenR"/>
            </a:pPr>
            <a:r>
              <a:rPr lang="es-CL" sz="1100">
                <a:solidFill>
                  <a:schemeClr val="dk1"/>
                </a:solidFill>
              </a:rPr>
              <a:t>Diseñar la arquitectura del sistema y prototipos de interfaz de usuario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arenR"/>
            </a:pPr>
            <a:r>
              <a:rPr lang="es-CL" sz="1100">
                <a:solidFill>
                  <a:schemeClr val="dk1"/>
                </a:solidFill>
              </a:rPr>
              <a:t>Construir el backend y frontend del sistema web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arenR"/>
            </a:pPr>
            <a:r>
              <a:rPr lang="es-CL" sz="1100">
                <a:solidFill>
                  <a:schemeClr val="dk1"/>
                </a:solidFill>
              </a:rPr>
              <a:t>Validar la calidad e integridad del software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arenR"/>
            </a:pPr>
            <a:r>
              <a:rPr lang="es-CL" sz="1100">
                <a:solidFill>
                  <a:schemeClr val="dk1"/>
                </a:solidFill>
              </a:rPr>
              <a:t> Desplegar la solución en infraestructura cloud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914374" y="1664801"/>
            <a:ext cx="10072800" cy="4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Centraliza la gestión:</a:t>
            </a:r>
            <a:r>
              <a:rPr lang="es-CL" sz="1100">
                <a:solidFill>
                  <a:schemeClr val="dk1"/>
                </a:solidFill>
              </a:rPr>
              <a:t> Unifica en una sola plataforma web los trámites de </a:t>
            </a:r>
            <a:r>
              <a:rPr i="1" lang="es-CL" sz="1100">
                <a:solidFill>
                  <a:schemeClr val="dk1"/>
                </a:solidFill>
              </a:rPr>
              <a:t>Solicitudes Académicas</a:t>
            </a:r>
            <a:r>
              <a:rPr lang="es-CL" sz="1100">
                <a:solidFill>
                  <a:schemeClr val="dk1"/>
                </a:solidFill>
              </a:rPr>
              <a:t>, </a:t>
            </a:r>
            <a:r>
              <a:rPr i="1" lang="es-CL" sz="1100">
                <a:solidFill>
                  <a:schemeClr val="dk1"/>
                </a:solidFill>
              </a:rPr>
              <a:t>Financiamiento</a:t>
            </a:r>
            <a:r>
              <a:rPr lang="es-CL" sz="1100">
                <a:solidFill>
                  <a:schemeClr val="dk1"/>
                </a:solidFill>
              </a:rPr>
              <a:t>, </a:t>
            </a:r>
            <a:r>
              <a:rPr i="1" lang="es-CL" sz="1100">
                <a:solidFill>
                  <a:schemeClr val="dk1"/>
                </a:solidFill>
              </a:rPr>
              <a:t>Denuncias Confidenciales</a:t>
            </a:r>
            <a:r>
              <a:rPr lang="es-CL" sz="1100">
                <a:solidFill>
                  <a:schemeClr val="dk1"/>
                </a:solidFill>
              </a:rPr>
              <a:t>, </a:t>
            </a:r>
            <a:r>
              <a:rPr i="1" lang="es-CL" sz="1100">
                <a:solidFill>
                  <a:schemeClr val="dk1"/>
                </a:solidFill>
              </a:rPr>
              <a:t>Reclamos</a:t>
            </a:r>
            <a:r>
              <a:rPr lang="es-CL" sz="1100">
                <a:solidFill>
                  <a:schemeClr val="dk1"/>
                </a:solidFill>
              </a:rPr>
              <a:t> y </a:t>
            </a:r>
            <a:r>
              <a:rPr i="1" lang="es-CL" sz="1100">
                <a:solidFill>
                  <a:schemeClr val="dk1"/>
                </a:solidFill>
              </a:rPr>
              <a:t>Felicitaciones</a:t>
            </a:r>
            <a:r>
              <a:rPr lang="es-CL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Asiste y automatiza con IA:</a:t>
            </a:r>
            <a:r>
              <a:rPr lang="es-CL" sz="1100">
                <a:solidFill>
                  <a:schemeClr val="dk1"/>
                </a:solidFill>
              </a:rPr>
              <a:t> Clasifica automáticamente los requerimientos ingresados, redacta borrador de respuestas y sugiere resoluciones según el reglamento institucional.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Muestra trazabilidad en tiempo real:</a:t>
            </a:r>
            <a:r>
              <a:rPr lang="es-CL" sz="1100">
                <a:solidFill>
                  <a:schemeClr val="dk1"/>
                </a:solidFill>
              </a:rPr>
              <a:t> Entrega a los estudiantes un panel visual (</a:t>
            </a:r>
            <a:r>
              <a:rPr i="1" lang="es-CL" sz="1100">
                <a:solidFill>
                  <a:schemeClr val="dk1"/>
                </a:solidFill>
              </a:rPr>
              <a:t>tracking</a:t>
            </a:r>
            <a:r>
              <a:rPr lang="es-CL" sz="1100">
                <a:solidFill>
                  <a:schemeClr val="dk1"/>
                </a:solidFill>
              </a:rPr>
              <a:t>) para seguir el estado exacto de su trámite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Facilita la gestión administrativa:</a:t>
            </a:r>
            <a:r>
              <a:rPr lang="es-CL" sz="1100">
                <a:solidFill>
                  <a:schemeClr val="dk1"/>
                </a:solidFill>
              </a:rPr>
              <a:t> Otorga a los coordinadores un panel centralizado para aprobar, rechazar o derivar solicitudes rápidamente.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Garantiza la confidencialidad:</a:t>
            </a:r>
            <a:r>
              <a:rPr lang="es-CL" sz="1100">
                <a:solidFill>
                  <a:schemeClr val="dk1"/>
                </a:solidFill>
              </a:rPr>
              <a:t> Aplica protocolos de seguridad y encriptación para resguardar la identidad en el canal de denuncias.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No es una App Móvil nativa:</a:t>
            </a:r>
            <a:r>
              <a:rPr lang="es-CL" sz="1100">
                <a:solidFill>
                  <a:schemeClr val="dk1"/>
                </a:solidFill>
              </a:rPr>
              <a:t> Funciona como plataforma web 100% </a:t>
            </a:r>
            <a:r>
              <a:rPr lang="es-CL" sz="1100">
                <a:solidFill>
                  <a:schemeClr val="dk1"/>
                </a:solidFill>
              </a:rPr>
              <a:t>responsive</a:t>
            </a:r>
            <a:r>
              <a:rPr lang="es-CL" sz="1100">
                <a:solidFill>
                  <a:schemeClr val="dk1"/>
                </a:solidFill>
              </a:rPr>
              <a:t> (accesible desde cualquier celular mediante el navegador), sin descarga desde App Store o Play Store.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No reemplaza a los sistemas legados (SAP/Banner):</a:t>
            </a:r>
            <a:r>
              <a:rPr lang="es-CL" sz="1100">
                <a:solidFill>
                  <a:schemeClr val="dk1"/>
                </a:solidFill>
              </a:rPr>
              <a:t> Interactúa y consulta información mediante conectores/APIs, pero no modifica la base de datos ni la arquitectura central de la universidad.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No ejecuta decisiones disciplinarias o presenciales de forma autónoma:</a:t>
            </a:r>
            <a:r>
              <a:rPr lang="es-CL" sz="1100">
                <a:solidFill>
                  <a:schemeClr val="dk1"/>
                </a:solidFill>
              </a:rPr>
              <a:t> Registra y gestiona el flujo digital, pero las acciones físicas o resoluciones complejas las dictaminan los coordinadores humanos.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No contempla administración de hardware:</a:t>
            </a:r>
            <a:r>
              <a:rPr lang="es-CL" sz="1100">
                <a:solidFill>
                  <a:schemeClr val="dk1"/>
                </a:solidFill>
              </a:rPr>
              <a:t> No incluye provisión ni mantenimiento de infraestructura física o servidores locales en la sede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Estudiantes:</a:t>
            </a:r>
            <a:r>
              <a:rPr lang="es-CL" sz="1100">
                <a:solidFill>
                  <a:schemeClr val="dk1"/>
                </a:solidFill>
              </a:rPr>
              <a:t> Generan solicitudes, denuncias, reclamos, felicitaciones y consultan financiamiento; realizan el seguimiento en tiempo real de sus trámites.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 sz="1100">
                <a:solidFill>
                  <a:schemeClr val="dk1"/>
                </a:solidFill>
              </a:rPr>
              <a:t>Coordinadores Académicos:</a:t>
            </a:r>
            <a:r>
              <a:rPr lang="es-CL" sz="1100">
                <a:solidFill>
                  <a:schemeClr val="dk1"/>
                </a:solidFill>
              </a:rPr>
              <a:t> Gestionan, aprueban o derivan los requerimientos estudiantiles diarios asistidos por la IA.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Abogados</a:t>
            </a:r>
            <a:r>
              <a:rPr lang="es-CL" sz="1100">
                <a:solidFill>
                  <a:schemeClr val="dk1"/>
                </a:solidFill>
              </a:rPr>
              <a:t>: Gestionan, aprueban e investigan las denuncias estudiantiles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R.1:</a:t>
            </a:r>
            <a:r>
              <a:rPr lang="es-CL">
                <a:solidFill>
                  <a:schemeClr val="dk1"/>
                </a:solidFill>
              </a:rPr>
              <a:t> debe ser seguro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R.2:</a:t>
            </a:r>
            <a:r>
              <a:rPr lang="es-CL">
                <a:solidFill>
                  <a:schemeClr val="dk1"/>
                </a:solidFill>
              </a:rPr>
              <a:t> debe contar con autenticación al iniciar sesión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R.3:</a:t>
            </a:r>
            <a:r>
              <a:rPr lang="es-CL">
                <a:solidFill>
                  <a:schemeClr val="dk1"/>
                </a:solidFill>
              </a:rPr>
              <a:t> debe estar disponible 24 horas al dia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R.4:</a:t>
            </a:r>
            <a:r>
              <a:rPr lang="es-CL">
                <a:solidFill>
                  <a:schemeClr val="dk1"/>
                </a:solidFill>
              </a:rPr>
              <a:t> debe contar con base de datos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R.5:</a:t>
            </a:r>
            <a:r>
              <a:rPr lang="es-CL">
                <a:solidFill>
                  <a:schemeClr val="dk1"/>
                </a:solidFill>
              </a:rPr>
              <a:t> debe contar con reportes mensuales (Reclamos)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R.6:</a:t>
            </a:r>
            <a:r>
              <a:rPr lang="es-CL">
                <a:solidFill>
                  <a:schemeClr val="dk1"/>
                </a:solidFill>
              </a:rPr>
              <a:t> Sistema debe mandar notificaciones de actualizaciones por correos (Todos los módulos)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R.7:</a:t>
            </a:r>
            <a:r>
              <a:rPr lang="es-CL">
                <a:solidFill>
                  <a:schemeClr val="dk1"/>
                </a:solidFill>
              </a:rPr>
              <a:t> Sistema debe contar con respuestas pre-escritas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R.8:</a:t>
            </a:r>
            <a:r>
              <a:rPr lang="es-CL">
                <a:solidFill>
                  <a:schemeClr val="dk1"/>
                </a:solidFill>
              </a:rPr>
              <a:t> Sistema debe contar con dashboard personalizado dependiendo del rol dentro de la institución (Todos los roles)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R.9:</a:t>
            </a:r>
            <a:r>
              <a:rPr lang="es-CL">
                <a:solidFill>
                  <a:schemeClr val="dk1"/>
                </a:solidFill>
              </a:rPr>
              <a:t> Sistema debe ser capaz de resistir flujo masivo de solicitudes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R.10:</a:t>
            </a:r>
            <a:r>
              <a:rPr lang="es-CL">
                <a:solidFill>
                  <a:schemeClr val="dk1"/>
                </a:solidFill>
              </a:rPr>
              <a:t> Sistema debe ser capaz de comunicarse entre distintas áreas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R.11:</a:t>
            </a:r>
            <a:r>
              <a:rPr lang="es-CL">
                <a:solidFill>
                  <a:schemeClr val="dk1"/>
                </a:solidFill>
              </a:rPr>
              <a:t> Sistema debe ser responsivo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R.12:</a:t>
            </a:r>
            <a:r>
              <a:rPr lang="es-CL">
                <a:solidFill>
                  <a:schemeClr val="dk1"/>
                </a:solidFill>
              </a:rPr>
              <a:t> Sistema debe poder ver solicitudes anteriores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R.13:</a:t>
            </a:r>
            <a:r>
              <a:rPr lang="es-CL">
                <a:solidFill>
                  <a:schemeClr val="dk1"/>
                </a:solidFill>
              </a:rPr>
              <a:t> Sistema debe ser capaz de integrarse con el usado antiguamente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R.14:</a:t>
            </a:r>
            <a:r>
              <a:rPr lang="es-CL">
                <a:solidFill>
                  <a:schemeClr val="dk1"/>
                </a:solidFill>
              </a:rPr>
              <a:t> Sistema debe contar con apartado FAQ (Frequently Asked Questions)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R.15:</a:t>
            </a:r>
            <a:r>
              <a:rPr lang="es-CL">
                <a:solidFill>
                  <a:schemeClr val="dk1"/>
                </a:solidFill>
              </a:rPr>
              <a:t> Sistema debe contar con I.A para generar análisis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61876f11_0_17"/>
          <p:cNvSpPr txBox="1"/>
          <p:nvPr>
            <p:ph type="title"/>
          </p:nvPr>
        </p:nvSpPr>
        <p:spPr>
          <a:xfrm>
            <a:off x="841416" y="105444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46" name="Google Shape;146;g3fa61876f11_0_17"/>
          <p:cNvSpPr/>
          <p:nvPr/>
        </p:nvSpPr>
        <p:spPr>
          <a:xfrm>
            <a:off x="839487" y="1923143"/>
            <a:ext cx="103656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R.16: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</a:t>
            </a:r>
            <a:r>
              <a:rPr lang="es-CL">
                <a:solidFill>
                  <a:schemeClr val="dk1"/>
                </a:solidFill>
              </a:rPr>
              <a:t> debe seguir el protocolo legal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R.17: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poder generar respuestas automatizada dependiendo de la solicitud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R.18: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ser capaz de revisar los reclamos ya cerrados ( Coordinadores y Director)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R.19:</a:t>
            </a:r>
            <a:r>
              <a:rPr lang="es-CL">
                <a:solidFill>
                  <a:schemeClr val="dk1"/>
                </a:solidFill>
              </a:rPr>
              <a:t>Sistema debe poder hacer reclamos anonimos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R.20: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ser capaz de ver denuncias pasadas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R.21: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mostrar el seguimiento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CL">
                <a:solidFill>
                  <a:schemeClr val="dk1"/>
                </a:solidFill>
              </a:rPr>
              <a:t>en tiempo real del estado de solicitudes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R.22: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generar y emitir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CL">
                <a:solidFill>
                  <a:schemeClr val="dk1"/>
                </a:solidFill>
              </a:rPr>
              <a:t>certificados académicos de forma automática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R.23: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permitir la cancelación de solicitudes por parte del estudiante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R.24: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contar con un canal prioritario para situaciones de emergencia estudiantil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R.25: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permitir ingresar felicitaciones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R.26: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permitir ver secciones de asignaturas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R.27: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ser capaz de anular denuncias (Con Protocolo)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R.28: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ser capaz de borrar reclamos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R.29: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poder editar reclamos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R.30: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>
                <a:solidFill>
                  <a:schemeClr val="dk1"/>
                </a:solidFill>
              </a:rPr>
              <a:t>Sistema debe poder editar solicitudes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63" y="2018498"/>
            <a:ext cx="11748477" cy="39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9700" y="1724546"/>
            <a:ext cx="4607724" cy="473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a61876f11_0_40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6" name="Google Shape;166;g3fa61876f11_0_40"/>
          <p:cNvSpPr txBox="1"/>
          <p:nvPr/>
        </p:nvSpPr>
        <p:spPr>
          <a:xfrm>
            <a:off x="757367" y="18483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g3fa61876f11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75" y="3047976"/>
            <a:ext cx="3212825" cy="218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fa61876f11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9808" y="1848346"/>
            <a:ext cx="4762550" cy="48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fa61876f11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5333" y="2939119"/>
            <a:ext cx="3474842" cy="2406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61876f11_0_47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75" name="Google Shape;175;g3fa61876f11_0_47"/>
          <p:cNvSpPr txBox="1"/>
          <p:nvPr/>
        </p:nvSpPr>
        <p:spPr>
          <a:xfrm>
            <a:off x="757367" y="18483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3fa61876f11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50" y="1901131"/>
            <a:ext cx="40957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fa61876f11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3375" y="1589300"/>
            <a:ext cx="4784225" cy="502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61876f11_0_52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83" name="Google Shape;183;g3fa61876f11_0_52"/>
          <p:cNvSpPr txBox="1"/>
          <p:nvPr/>
        </p:nvSpPr>
        <p:spPr>
          <a:xfrm>
            <a:off x="757367" y="18483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g3fa61876f11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50" y="2519231"/>
            <a:ext cx="11887201" cy="2621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pic>
        <p:nvPicPr>
          <p:cNvPr id="190" name="Google Shape;19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325" y="1878312"/>
            <a:ext cx="704850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$2,280,000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Diseño:$7,880,000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Desarrollo:$11,968,000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QA:$3,478,000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Implementación y Cierre:$3,438,000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641252" y="1828016"/>
            <a:ext cx="10861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Fueron usados sitios como balsamiq para hacer los mockups, excel, word, power point, nuestros dispositivos y una grabadora de voz para las entrevistas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esto concluimos la primera fase de nuestro proyecto de Capstone, aunque el proyecto puede contener mejoras el proyecto ha demostrado ser viable y alineado con los intereses que nos pide tanto la asignatura como los nuestros como alumnos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